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1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Error Frequency</c:v>
                </c:pt>
              </c:strCache>
            </c:strRef>
          </c:tx>
          <c:dPt>
            <c:idx val="0"/>
            <c:bubble3D val="0"/>
            <c:spPr>
              <a:solidFill>
                <a:schemeClr val="accent6">
                  <a:shade val="7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A18-481D-BEE2-5AC2ED16A8BC}"/>
              </c:ext>
            </c:extLst>
          </c:dPt>
          <c:dPt>
            <c:idx val="1"/>
            <c:bubble3D val="0"/>
            <c:spPr>
              <a:solidFill>
                <a:schemeClr val="accent6">
                  <a:tint val="77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BA18-481D-BEE2-5AC2ED16A8BC}"/>
              </c:ext>
            </c:extLst>
          </c:dPt>
          <c:dLbls>
            <c:dLbl>
              <c:idx val="0"/>
              <c:layout>
                <c:manualLayout>
                  <c:x val="6.0445679799720035E-2"/>
                  <c:y val="0.1083443213243463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A18-481D-BEE2-5AC2ED16A8BC}"/>
                </c:ext>
              </c:extLst>
            </c:dLbl>
            <c:dLbl>
              <c:idx val="1"/>
              <c:layout>
                <c:manualLayout>
                  <c:x val="-0.14094440568235619"/>
                  <c:y val="-3.346287241607999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A18-481D-BEE2-5AC2ED16A8B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extLst>
                <c:ext xmlns:c15="http://schemas.microsoft.com/office/drawing/2012/chart" uri="{02D57815-91ED-43cb-92C2-25804820EDAC}">
                  <c15:fullRef>
                    <c15:sqref>Sheet1!$A$2:$A$5</c15:sqref>
                  </c15:fullRef>
                </c:ext>
              </c:extLst>
              <c:f>Sheet1!$A$2:$A$3</c:f>
              <c:strCache>
                <c:ptCount val="2"/>
                <c:pt idx="0">
                  <c:v>Non-Operator</c:v>
                </c:pt>
                <c:pt idx="1">
                  <c:v>Operator</c:v>
                </c:pt>
              </c:strCache>
            </c:strRef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Sheet1!$B$2:$B$5</c15:sqref>
                  </c15:fullRef>
                </c:ext>
              </c:extLst>
              <c:f>Sheet1!$B$2:$B$3</c:f>
              <c:numCache>
                <c:formatCode>0%</c:formatCode>
                <c:ptCount val="2"/>
                <c:pt idx="0">
                  <c:v>0.69</c:v>
                </c:pt>
                <c:pt idx="1">
                  <c:v>0.31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/>
            </c:ext>
            <c:ext xmlns:c16="http://schemas.microsoft.com/office/drawing/2014/chart" uri="{C3380CC4-5D6E-409C-BE32-E72D297353CC}">
              <c16:uniqueId val="{00000000-BA18-481D-BEE2-5AC2ED16A8B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0DF0873-A213-4380-AFB0-F20B30D481BD}" type="doc">
      <dgm:prSet loTypeId="urn:microsoft.com/office/officeart/2018/2/layout/IconLabel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39923751-B20B-43EA-B26C-4E80C6D6D130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Cleaning/sanitation cycle</a:t>
          </a:r>
          <a:endParaRPr lang="en-US"/>
        </a:p>
      </dgm:t>
    </dgm:pt>
    <dgm:pt modelId="{8B87C9CC-6B45-4110-A351-F2AD93408B2D}" type="parTrans" cxnId="{50D219AE-D1E2-4A9B-B6CA-3BE4C0697BD1}">
      <dgm:prSet/>
      <dgm:spPr/>
      <dgm:t>
        <a:bodyPr/>
        <a:lstStyle/>
        <a:p>
          <a:endParaRPr lang="en-US"/>
        </a:p>
      </dgm:t>
    </dgm:pt>
    <dgm:pt modelId="{FE462AAF-FA30-4DF4-AD53-FCEDA30C423D}" type="sibTrans" cxnId="{50D219AE-D1E2-4A9B-B6CA-3BE4C0697BD1}">
      <dgm:prSet/>
      <dgm:spPr/>
      <dgm:t>
        <a:bodyPr/>
        <a:lstStyle/>
        <a:p>
          <a:endParaRPr lang="en-US"/>
        </a:p>
      </dgm:t>
    </dgm:pt>
    <dgm:pt modelId="{1F5E6549-3844-4193-AA11-38F5518508C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Raw material shortage</a:t>
          </a:r>
          <a:endParaRPr lang="en-US"/>
        </a:p>
      </dgm:t>
    </dgm:pt>
    <dgm:pt modelId="{B5511FC9-BDE1-4EC6-8ACA-4B7F6A89847E}" type="parTrans" cxnId="{8D3DED31-220B-4E49-A6D8-860E9D2470C2}">
      <dgm:prSet/>
      <dgm:spPr/>
      <dgm:t>
        <a:bodyPr/>
        <a:lstStyle/>
        <a:p>
          <a:endParaRPr lang="en-US"/>
        </a:p>
      </dgm:t>
    </dgm:pt>
    <dgm:pt modelId="{49D3193A-99EF-42BC-B079-5CF1CD5E1773}" type="sibTrans" cxnId="{8D3DED31-220B-4E49-A6D8-860E9D2470C2}">
      <dgm:prSet/>
      <dgm:spPr/>
      <dgm:t>
        <a:bodyPr/>
        <a:lstStyle/>
        <a:p>
          <a:endParaRPr lang="en-US"/>
        </a:p>
      </dgm:t>
    </dgm:pt>
    <dgm:pt modelId="{F209EAA6-3980-41AB-8220-73012B2CA99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Scheduling/Coordination delay</a:t>
          </a:r>
          <a:endParaRPr lang="en-US"/>
        </a:p>
      </dgm:t>
    </dgm:pt>
    <dgm:pt modelId="{35DE0CE2-AEFF-491C-917E-40E85AA9F1F0}" type="parTrans" cxnId="{82132FA9-50F9-4763-9E0F-DE3B74CA9524}">
      <dgm:prSet/>
      <dgm:spPr/>
      <dgm:t>
        <a:bodyPr/>
        <a:lstStyle/>
        <a:p>
          <a:endParaRPr lang="en-US"/>
        </a:p>
      </dgm:t>
    </dgm:pt>
    <dgm:pt modelId="{ADBC8B41-B8A5-43C3-9250-5C292C27F70E}" type="sibTrans" cxnId="{82132FA9-50F9-4763-9E0F-DE3B74CA9524}">
      <dgm:prSet/>
      <dgm:spPr/>
      <dgm:t>
        <a:bodyPr/>
        <a:lstStyle/>
        <a:p>
          <a:endParaRPr lang="en-US"/>
        </a:p>
      </dgm:t>
    </dgm:pt>
    <dgm:pt modelId="{A8951257-0FB9-4B87-B5BF-8CD9884FFB0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Machine breakdown</a:t>
          </a:r>
          <a:endParaRPr lang="en-US"/>
        </a:p>
      </dgm:t>
    </dgm:pt>
    <dgm:pt modelId="{A203BDAF-4163-4E44-B315-8CF71577E495}" type="parTrans" cxnId="{C1A950D8-1B2E-4B37-BEAE-29E2E5404078}">
      <dgm:prSet/>
      <dgm:spPr/>
      <dgm:t>
        <a:bodyPr/>
        <a:lstStyle/>
        <a:p>
          <a:endParaRPr lang="en-US"/>
        </a:p>
      </dgm:t>
    </dgm:pt>
    <dgm:pt modelId="{9B5944D6-BF89-4D82-820E-C9739C91562F}" type="sibTrans" cxnId="{C1A950D8-1B2E-4B37-BEAE-29E2E5404078}">
      <dgm:prSet/>
      <dgm:spPr/>
      <dgm:t>
        <a:bodyPr/>
        <a:lstStyle/>
        <a:p>
          <a:endParaRPr lang="en-US"/>
        </a:p>
      </dgm:t>
    </dgm:pt>
    <dgm:pt modelId="{0C6AFC68-D42F-41BC-AE94-3DDA5B8FB13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Safety lockout/emergency stop</a:t>
          </a:r>
          <a:endParaRPr lang="en-US"/>
        </a:p>
      </dgm:t>
    </dgm:pt>
    <dgm:pt modelId="{0B6B13A3-5154-4615-A45A-D6B27AE61FB8}" type="parTrans" cxnId="{3670059E-765E-4EA0-87DE-DC3C951527A3}">
      <dgm:prSet/>
      <dgm:spPr/>
      <dgm:t>
        <a:bodyPr/>
        <a:lstStyle/>
        <a:p>
          <a:endParaRPr lang="en-US"/>
        </a:p>
      </dgm:t>
    </dgm:pt>
    <dgm:pt modelId="{3055F278-9642-47A3-8CB8-12A0F628B8F1}" type="sibTrans" cxnId="{3670059E-765E-4EA0-87DE-DC3C951527A3}">
      <dgm:prSet/>
      <dgm:spPr/>
      <dgm:t>
        <a:bodyPr/>
        <a:lstStyle/>
        <a:p>
          <a:endParaRPr lang="en-US"/>
        </a:p>
      </dgm:t>
    </dgm:pt>
    <dgm:pt modelId="{02BB087F-57A5-4A9E-9E7C-782A961BE643}" type="pres">
      <dgm:prSet presAssocID="{F0DF0873-A213-4380-AFB0-F20B30D481BD}" presName="root" presStyleCnt="0">
        <dgm:presLayoutVars>
          <dgm:dir/>
          <dgm:resizeHandles val="exact"/>
        </dgm:presLayoutVars>
      </dgm:prSet>
      <dgm:spPr/>
    </dgm:pt>
    <dgm:pt modelId="{395EFD87-ED31-4F4A-990D-9A39E9483AF8}" type="pres">
      <dgm:prSet presAssocID="{39923751-B20B-43EA-B26C-4E80C6D6D130}" presName="compNode" presStyleCnt="0"/>
      <dgm:spPr/>
    </dgm:pt>
    <dgm:pt modelId="{C16E6652-9D21-4822-898B-128CA98D83EE}" type="pres">
      <dgm:prSet presAssocID="{39923751-B20B-43EA-B26C-4E80C6D6D130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443BDB5B-85AF-4847-A5D7-1D97D42AD416}" type="pres">
      <dgm:prSet presAssocID="{39923751-B20B-43EA-B26C-4E80C6D6D130}" presName="spaceRect" presStyleCnt="0"/>
      <dgm:spPr/>
    </dgm:pt>
    <dgm:pt modelId="{903F3A04-1EBC-4AE8-82DD-04907B58932D}" type="pres">
      <dgm:prSet presAssocID="{39923751-B20B-43EA-B26C-4E80C6D6D130}" presName="textRect" presStyleLbl="revTx" presStyleIdx="0" presStyleCnt="5">
        <dgm:presLayoutVars>
          <dgm:chMax val="1"/>
          <dgm:chPref val="1"/>
        </dgm:presLayoutVars>
      </dgm:prSet>
      <dgm:spPr/>
    </dgm:pt>
    <dgm:pt modelId="{40A8276D-72A2-407D-80F3-B81603FA6A07}" type="pres">
      <dgm:prSet presAssocID="{FE462AAF-FA30-4DF4-AD53-FCEDA30C423D}" presName="sibTrans" presStyleCnt="0"/>
      <dgm:spPr/>
    </dgm:pt>
    <dgm:pt modelId="{08D9D47E-021C-4B83-A380-14630B33C1B8}" type="pres">
      <dgm:prSet presAssocID="{1F5E6549-3844-4193-AA11-38F5518508CE}" presName="compNode" presStyleCnt="0"/>
      <dgm:spPr/>
    </dgm:pt>
    <dgm:pt modelId="{89F842FB-226E-4142-A7E2-0751C0D5C377}" type="pres">
      <dgm:prSet presAssocID="{1F5E6549-3844-4193-AA11-38F5518508CE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3ABA05F3-435F-4AD2-A809-C62068425C22}" type="pres">
      <dgm:prSet presAssocID="{1F5E6549-3844-4193-AA11-38F5518508CE}" presName="spaceRect" presStyleCnt="0"/>
      <dgm:spPr/>
    </dgm:pt>
    <dgm:pt modelId="{925E3EB7-BFF3-41C8-9299-591405CED437}" type="pres">
      <dgm:prSet presAssocID="{1F5E6549-3844-4193-AA11-38F5518508CE}" presName="textRect" presStyleLbl="revTx" presStyleIdx="1" presStyleCnt="5">
        <dgm:presLayoutVars>
          <dgm:chMax val="1"/>
          <dgm:chPref val="1"/>
        </dgm:presLayoutVars>
      </dgm:prSet>
      <dgm:spPr/>
    </dgm:pt>
    <dgm:pt modelId="{06CEC3CC-043E-4B6D-8FBC-85D028EB4671}" type="pres">
      <dgm:prSet presAssocID="{49D3193A-99EF-42BC-B079-5CF1CD5E1773}" presName="sibTrans" presStyleCnt="0"/>
      <dgm:spPr/>
    </dgm:pt>
    <dgm:pt modelId="{E74C89B8-5B22-4B1F-B847-CE91C652072F}" type="pres">
      <dgm:prSet presAssocID="{F209EAA6-3980-41AB-8220-73012B2CA99F}" presName="compNode" presStyleCnt="0"/>
      <dgm:spPr/>
    </dgm:pt>
    <dgm:pt modelId="{7B526AA9-3A09-4EFB-886A-26A4CB6A8D89}" type="pres">
      <dgm:prSet presAssocID="{F209EAA6-3980-41AB-8220-73012B2CA99F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CF8193A1-81F5-4A4E-BAE0-7E9748865192}" type="pres">
      <dgm:prSet presAssocID="{F209EAA6-3980-41AB-8220-73012B2CA99F}" presName="spaceRect" presStyleCnt="0"/>
      <dgm:spPr/>
    </dgm:pt>
    <dgm:pt modelId="{E03913B8-1F47-47D4-AA8D-686284FA692D}" type="pres">
      <dgm:prSet presAssocID="{F209EAA6-3980-41AB-8220-73012B2CA99F}" presName="textRect" presStyleLbl="revTx" presStyleIdx="2" presStyleCnt="5">
        <dgm:presLayoutVars>
          <dgm:chMax val="1"/>
          <dgm:chPref val="1"/>
        </dgm:presLayoutVars>
      </dgm:prSet>
      <dgm:spPr/>
    </dgm:pt>
    <dgm:pt modelId="{0126A30F-E813-470E-8248-044C79A9C048}" type="pres">
      <dgm:prSet presAssocID="{ADBC8B41-B8A5-43C3-9250-5C292C27F70E}" presName="sibTrans" presStyleCnt="0"/>
      <dgm:spPr/>
    </dgm:pt>
    <dgm:pt modelId="{FE7F38C6-C68F-44B8-ACD5-C37F3DB629C3}" type="pres">
      <dgm:prSet presAssocID="{A8951257-0FB9-4B87-B5BF-8CD9884FFB03}" presName="compNode" presStyleCnt="0"/>
      <dgm:spPr/>
    </dgm:pt>
    <dgm:pt modelId="{92EDCACF-430C-4A35-96FB-3097D8115A07}" type="pres">
      <dgm:prSet presAssocID="{A8951257-0FB9-4B87-B5BF-8CD9884FFB03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52D8E0DC-7E8C-44B8-B263-7A5042889476}" type="pres">
      <dgm:prSet presAssocID="{A8951257-0FB9-4B87-B5BF-8CD9884FFB03}" presName="spaceRect" presStyleCnt="0"/>
      <dgm:spPr/>
    </dgm:pt>
    <dgm:pt modelId="{CFEAE8DC-B874-4EBD-B833-AE55E3F7050E}" type="pres">
      <dgm:prSet presAssocID="{A8951257-0FB9-4B87-B5BF-8CD9884FFB03}" presName="textRect" presStyleLbl="revTx" presStyleIdx="3" presStyleCnt="5">
        <dgm:presLayoutVars>
          <dgm:chMax val="1"/>
          <dgm:chPref val="1"/>
        </dgm:presLayoutVars>
      </dgm:prSet>
      <dgm:spPr/>
    </dgm:pt>
    <dgm:pt modelId="{A443C07C-AC26-4B86-B994-F955ED74446C}" type="pres">
      <dgm:prSet presAssocID="{9B5944D6-BF89-4D82-820E-C9739C91562F}" presName="sibTrans" presStyleCnt="0"/>
      <dgm:spPr/>
    </dgm:pt>
    <dgm:pt modelId="{BC135068-CF06-4F8D-AEBC-9EC48049AEF9}" type="pres">
      <dgm:prSet presAssocID="{0C6AFC68-D42F-41BC-AE94-3DDA5B8FB133}" presName="compNode" presStyleCnt="0"/>
      <dgm:spPr/>
    </dgm:pt>
    <dgm:pt modelId="{85D2BD03-7375-4EB1-AF95-6388B26FBF51}" type="pres">
      <dgm:prSet presAssocID="{0C6AFC68-D42F-41BC-AE94-3DDA5B8FB133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9ADB4169-31C2-4872-A805-BBAF90AE7EB4}" type="pres">
      <dgm:prSet presAssocID="{0C6AFC68-D42F-41BC-AE94-3DDA5B8FB133}" presName="spaceRect" presStyleCnt="0"/>
      <dgm:spPr/>
    </dgm:pt>
    <dgm:pt modelId="{B2F6BBEA-81A9-44DA-B001-ED86EE591B0C}" type="pres">
      <dgm:prSet presAssocID="{0C6AFC68-D42F-41BC-AE94-3DDA5B8FB133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2B7A3720-1E07-469A-90F7-6813BA46D260}" type="presOf" srcId="{A8951257-0FB9-4B87-B5BF-8CD9884FFB03}" destId="{CFEAE8DC-B874-4EBD-B833-AE55E3F7050E}" srcOrd="0" destOrd="0" presId="urn:microsoft.com/office/officeart/2018/2/layout/IconLabelList"/>
    <dgm:cxn modelId="{8D3DED31-220B-4E49-A6D8-860E9D2470C2}" srcId="{F0DF0873-A213-4380-AFB0-F20B30D481BD}" destId="{1F5E6549-3844-4193-AA11-38F5518508CE}" srcOrd="1" destOrd="0" parTransId="{B5511FC9-BDE1-4EC6-8ACA-4B7F6A89847E}" sibTransId="{49D3193A-99EF-42BC-B079-5CF1CD5E1773}"/>
    <dgm:cxn modelId="{74A3403A-FBF7-4993-A6FF-3999476AE91E}" type="presOf" srcId="{1F5E6549-3844-4193-AA11-38F5518508CE}" destId="{925E3EB7-BFF3-41C8-9299-591405CED437}" srcOrd="0" destOrd="0" presId="urn:microsoft.com/office/officeart/2018/2/layout/IconLabelList"/>
    <dgm:cxn modelId="{E502C958-7275-4832-8A21-BA69DDB57891}" type="presOf" srcId="{39923751-B20B-43EA-B26C-4E80C6D6D130}" destId="{903F3A04-1EBC-4AE8-82DD-04907B58932D}" srcOrd="0" destOrd="0" presId="urn:microsoft.com/office/officeart/2018/2/layout/IconLabelList"/>
    <dgm:cxn modelId="{3670059E-765E-4EA0-87DE-DC3C951527A3}" srcId="{F0DF0873-A213-4380-AFB0-F20B30D481BD}" destId="{0C6AFC68-D42F-41BC-AE94-3DDA5B8FB133}" srcOrd="4" destOrd="0" parTransId="{0B6B13A3-5154-4615-A45A-D6B27AE61FB8}" sibTransId="{3055F278-9642-47A3-8CB8-12A0F628B8F1}"/>
    <dgm:cxn modelId="{82132FA9-50F9-4763-9E0F-DE3B74CA9524}" srcId="{F0DF0873-A213-4380-AFB0-F20B30D481BD}" destId="{F209EAA6-3980-41AB-8220-73012B2CA99F}" srcOrd="2" destOrd="0" parTransId="{35DE0CE2-AEFF-491C-917E-40E85AA9F1F0}" sibTransId="{ADBC8B41-B8A5-43C3-9250-5C292C27F70E}"/>
    <dgm:cxn modelId="{50D219AE-D1E2-4A9B-B6CA-3BE4C0697BD1}" srcId="{F0DF0873-A213-4380-AFB0-F20B30D481BD}" destId="{39923751-B20B-43EA-B26C-4E80C6D6D130}" srcOrd="0" destOrd="0" parTransId="{8B87C9CC-6B45-4110-A351-F2AD93408B2D}" sibTransId="{FE462AAF-FA30-4DF4-AD53-FCEDA30C423D}"/>
    <dgm:cxn modelId="{C1A950D8-1B2E-4B37-BEAE-29E2E5404078}" srcId="{F0DF0873-A213-4380-AFB0-F20B30D481BD}" destId="{A8951257-0FB9-4B87-B5BF-8CD9884FFB03}" srcOrd="3" destOrd="0" parTransId="{A203BDAF-4163-4E44-B315-8CF71577E495}" sibTransId="{9B5944D6-BF89-4D82-820E-C9739C91562F}"/>
    <dgm:cxn modelId="{287B58F9-FF51-4FF8-B205-15713D2B10CB}" type="presOf" srcId="{F0DF0873-A213-4380-AFB0-F20B30D481BD}" destId="{02BB087F-57A5-4A9E-9E7C-782A961BE643}" srcOrd="0" destOrd="0" presId="urn:microsoft.com/office/officeart/2018/2/layout/IconLabelList"/>
    <dgm:cxn modelId="{FA13BDF9-7D63-42E7-9E37-8ACED99C4368}" type="presOf" srcId="{F209EAA6-3980-41AB-8220-73012B2CA99F}" destId="{E03913B8-1F47-47D4-AA8D-686284FA692D}" srcOrd="0" destOrd="0" presId="urn:microsoft.com/office/officeart/2018/2/layout/IconLabelList"/>
    <dgm:cxn modelId="{659F4EFE-DB3C-4259-AE49-8A4214E56080}" type="presOf" srcId="{0C6AFC68-D42F-41BC-AE94-3DDA5B8FB133}" destId="{B2F6BBEA-81A9-44DA-B001-ED86EE591B0C}" srcOrd="0" destOrd="0" presId="urn:microsoft.com/office/officeart/2018/2/layout/IconLabelList"/>
    <dgm:cxn modelId="{2F6AE7B9-87CA-4EFA-9280-28DC3F5B5E00}" type="presParOf" srcId="{02BB087F-57A5-4A9E-9E7C-782A961BE643}" destId="{395EFD87-ED31-4F4A-990D-9A39E9483AF8}" srcOrd="0" destOrd="0" presId="urn:microsoft.com/office/officeart/2018/2/layout/IconLabelList"/>
    <dgm:cxn modelId="{6A6680A8-1F2E-435C-9E4F-84D5D3B20DEE}" type="presParOf" srcId="{395EFD87-ED31-4F4A-990D-9A39E9483AF8}" destId="{C16E6652-9D21-4822-898B-128CA98D83EE}" srcOrd="0" destOrd="0" presId="urn:microsoft.com/office/officeart/2018/2/layout/IconLabelList"/>
    <dgm:cxn modelId="{5DA77019-3E96-4D23-A972-8B282DBCBDED}" type="presParOf" srcId="{395EFD87-ED31-4F4A-990D-9A39E9483AF8}" destId="{443BDB5B-85AF-4847-A5D7-1D97D42AD416}" srcOrd="1" destOrd="0" presId="urn:microsoft.com/office/officeart/2018/2/layout/IconLabelList"/>
    <dgm:cxn modelId="{264100AC-2F8F-467B-9415-222DBBDE86DE}" type="presParOf" srcId="{395EFD87-ED31-4F4A-990D-9A39E9483AF8}" destId="{903F3A04-1EBC-4AE8-82DD-04907B58932D}" srcOrd="2" destOrd="0" presId="urn:microsoft.com/office/officeart/2018/2/layout/IconLabelList"/>
    <dgm:cxn modelId="{085B5087-1D0B-4A7F-B62D-467944E334BC}" type="presParOf" srcId="{02BB087F-57A5-4A9E-9E7C-782A961BE643}" destId="{40A8276D-72A2-407D-80F3-B81603FA6A07}" srcOrd="1" destOrd="0" presId="urn:microsoft.com/office/officeart/2018/2/layout/IconLabelList"/>
    <dgm:cxn modelId="{00B44399-45C3-4646-B3CA-866C02F6EFFC}" type="presParOf" srcId="{02BB087F-57A5-4A9E-9E7C-782A961BE643}" destId="{08D9D47E-021C-4B83-A380-14630B33C1B8}" srcOrd="2" destOrd="0" presId="urn:microsoft.com/office/officeart/2018/2/layout/IconLabelList"/>
    <dgm:cxn modelId="{86F34F42-FC85-44C9-BDC2-1A7C09633D6B}" type="presParOf" srcId="{08D9D47E-021C-4B83-A380-14630B33C1B8}" destId="{89F842FB-226E-4142-A7E2-0751C0D5C377}" srcOrd="0" destOrd="0" presId="urn:microsoft.com/office/officeart/2018/2/layout/IconLabelList"/>
    <dgm:cxn modelId="{D9E30EC4-FF4F-4952-8900-F37A4CFE0AC7}" type="presParOf" srcId="{08D9D47E-021C-4B83-A380-14630B33C1B8}" destId="{3ABA05F3-435F-4AD2-A809-C62068425C22}" srcOrd="1" destOrd="0" presId="urn:microsoft.com/office/officeart/2018/2/layout/IconLabelList"/>
    <dgm:cxn modelId="{C6A75309-B3A2-4996-91B7-7D32EFFD07D7}" type="presParOf" srcId="{08D9D47E-021C-4B83-A380-14630B33C1B8}" destId="{925E3EB7-BFF3-41C8-9299-591405CED437}" srcOrd="2" destOrd="0" presId="urn:microsoft.com/office/officeart/2018/2/layout/IconLabelList"/>
    <dgm:cxn modelId="{B69F3CF8-5C6E-4BBF-9895-64D26FF41219}" type="presParOf" srcId="{02BB087F-57A5-4A9E-9E7C-782A961BE643}" destId="{06CEC3CC-043E-4B6D-8FBC-85D028EB4671}" srcOrd="3" destOrd="0" presId="urn:microsoft.com/office/officeart/2018/2/layout/IconLabelList"/>
    <dgm:cxn modelId="{D0E9549D-29C2-453E-AA85-163400FEFB3F}" type="presParOf" srcId="{02BB087F-57A5-4A9E-9E7C-782A961BE643}" destId="{E74C89B8-5B22-4B1F-B847-CE91C652072F}" srcOrd="4" destOrd="0" presId="urn:microsoft.com/office/officeart/2018/2/layout/IconLabelList"/>
    <dgm:cxn modelId="{7D54EC83-FA1F-41E8-ABED-4F4705FDD46F}" type="presParOf" srcId="{E74C89B8-5B22-4B1F-B847-CE91C652072F}" destId="{7B526AA9-3A09-4EFB-886A-26A4CB6A8D89}" srcOrd="0" destOrd="0" presId="urn:microsoft.com/office/officeart/2018/2/layout/IconLabelList"/>
    <dgm:cxn modelId="{FAA5F54C-116A-4AEA-99C9-226628DD7A9D}" type="presParOf" srcId="{E74C89B8-5B22-4B1F-B847-CE91C652072F}" destId="{CF8193A1-81F5-4A4E-BAE0-7E9748865192}" srcOrd="1" destOrd="0" presId="urn:microsoft.com/office/officeart/2018/2/layout/IconLabelList"/>
    <dgm:cxn modelId="{74C91465-EB22-44B7-A79B-48E2F505414D}" type="presParOf" srcId="{E74C89B8-5B22-4B1F-B847-CE91C652072F}" destId="{E03913B8-1F47-47D4-AA8D-686284FA692D}" srcOrd="2" destOrd="0" presId="urn:microsoft.com/office/officeart/2018/2/layout/IconLabelList"/>
    <dgm:cxn modelId="{0653C2A4-1F8C-44CA-98B6-54AF30BAE043}" type="presParOf" srcId="{02BB087F-57A5-4A9E-9E7C-782A961BE643}" destId="{0126A30F-E813-470E-8248-044C79A9C048}" srcOrd="5" destOrd="0" presId="urn:microsoft.com/office/officeart/2018/2/layout/IconLabelList"/>
    <dgm:cxn modelId="{ADEE6D32-B3CD-41A4-A65C-A888AE8501B8}" type="presParOf" srcId="{02BB087F-57A5-4A9E-9E7C-782A961BE643}" destId="{FE7F38C6-C68F-44B8-ACD5-C37F3DB629C3}" srcOrd="6" destOrd="0" presId="urn:microsoft.com/office/officeart/2018/2/layout/IconLabelList"/>
    <dgm:cxn modelId="{56968967-28D5-4A49-915C-EAF6070D5CC4}" type="presParOf" srcId="{FE7F38C6-C68F-44B8-ACD5-C37F3DB629C3}" destId="{92EDCACF-430C-4A35-96FB-3097D8115A07}" srcOrd="0" destOrd="0" presId="urn:microsoft.com/office/officeart/2018/2/layout/IconLabelList"/>
    <dgm:cxn modelId="{666ADB90-6019-426F-9F39-58E933D61BAB}" type="presParOf" srcId="{FE7F38C6-C68F-44B8-ACD5-C37F3DB629C3}" destId="{52D8E0DC-7E8C-44B8-B263-7A5042889476}" srcOrd="1" destOrd="0" presId="urn:microsoft.com/office/officeart/2018/2/layout/IconLabelList"/>
    <dgm:cxn modelId="{6D5A22A6-360F-4799-90E1-3EBFDBDC1979}" type="presParOf" srcId="{FE7F38C6-C68F-44B8-ACD5-C37F3DB629C3}" destId="{CFEAE8DC-B874-4EBD-B833-AE55E3F7050E}" srcOrd="2" destOrd="0" presId="urn:microsoft.com/office/officeart/2018/2/layout/IconLabelList"/>
    <dgm:cxn modelId="{115176E6-7461-49FD-9B79-12054DFF2CBA}" type="presParOf" srcId="{02BB087F-57A5-4A9E-9E7C-782A961BE643}" destId="{A443C07C-AC26-4B86-B994-F955ED74446C}" srcOrd="7" destOrd="0" presId="urn:microsoft.com/office/officeart/2018/2/layout/IconLabelList"/>
    <dgm:cxn modelId="{18AA886A-9407-4130-A63B-5A56137DE010}" type="presParOf" srcId="{02BB087F-57A5-4A9E-9E7C-782A961BE643}" destId="{BC135068-CF06-4F8D-AEBC-9EC48049AEF9}" srcOrd="8" destOrd="0" presId="urn:microsoft.com/office/officeart/2018/2/layout/IconLabelList"/>
    <dgm:cxn modelId="{11382A88-486A-4451-BAE0-2AE5BAA36362}" type="presParOf" srcId="{BC135068-CF06-4F8D-AEBC-9EC48049AEF9}" destId="{85D2BD03-7375-4EB1-AF95-6388B26FBF51}" srcOrd="0" destOrd="0" presId="urn:microsoft.com/office/officeart/2018/2/layout/IconLabelList"/>
    <dgm:cxn modelId="{680181A0-D6DE-44E0-BDF6-73FC48323153}" type="presParOf" srcId="{BC135068-CF06-4F8D-AEBC-9EC48049AEF9}" destId="{9ADB4169-31C2-4872-A805-BBAF90AE7EB4}" srcOrd="1" destOrd="0" presId="urn:microsoft.com/office/officeart/2018/2/layout/IconLabelList"/>
    <dgm:cxn modelId="{052E1EC5-0CB7-4675-AC4D-5647C6A3D492}" type="presParOf" srcId="{BC135068-CF06-4F8D-AEBC-9EC48049AEF9}" destId="{B2F6BBEA-81A9-44DA-B001-ED86EE591B0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6E6652-9D21-4822-898B-128CA98D83EE}">
      <dsp:nvSpPr>
        <dsp:cNvPr id="0" name=""/>
        <dsp:cNvSpPr/>
      </dsp:nvSpPr>
      <dsp:spPr>
        <a:xfrm>
          <a:off x="458127" y="354882"/>
          <a:ext cx="745136" cy="745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3F3A04-1EBC-4AE8-82DD-04907B58932D}">
      <dsp:nvSpPr>
        <dsp:cNvPr id="0" name=""/>
        <dsp:cNvSpPr/>
      </dsp:nvSpPr>
      <dsp:spPr>
        <a:xfrm>
          <a:off x="2766" y="1368566"/>
          <a:ext cx="1655859" cy="66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Cleaning/sanitation cycle</a:t>
          </a:r>
          <a:endParaRPr lang="en-US" sz="1200" kern="1200"/>
        </a:p>
      </dsp:txBody>
      <dsp:txXfrm>
        <a:off x="2766" y="1368566"/>
        <a:ext cx="1655859" cy="662343"/>
      </dsp:txXfrm>
    </dsp:sp>
    <dsp:sp modelId="{89F842FB-226E-4142-A7E2-0751C0D5C377}">
      <dsp:nvSpPr>
        <dsp:cNvPr id="0" name=""/>
        <dsp:cNvSpPr/>
      </dsp:nvSpPr>
      <dsp:spPr>
        <a:xfrm>
          <a:off x="2403762" y="354882"/>
          <a:ext cx="745136" cy="745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5E3EB7-BFF3-41C8-9299-591405CED437}">
      <dsp:nvSpPr>
        <dsp:cNvPr id="0" name=""/>
        <dsp:cNvSpPr/>
      </dsp:nvSpPr>
      <dsp:spPr>
        <a:xfrm>
          <a:off x="1948400" y="1368566"/>
          <a:ext cx="1655859" cy="66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Raw material shortage</a:t>
          </a:r>
          <a:endParaRPr lang="en-US" sz="1200" kern="1200"/>
        </a:p>
      </dsp:txBody>
      <dsp:txXfrm>
        <a:off x="1948400" y="1368566"/>
        <a:ext cx="1655859" cy="662343"/>
      </dsp:txXfrm>
    </dsp:sp>
    <dsp:sp modelId="{7B526AA9-3A09-4EFB-886A-26A4CB6A8D89}">
      <dsp:nvSpPr>
        <dsp:cNvPr id="0" name=""/>
        <dsp:cNvSpPr/>
      </dsp:nvSpPr>
      <dsp:spPr>
        <a:xfrm>
          <a:off x="4349396" y="354882"/>
          <a:ext cx="745136" cy="745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3913B8-1F47-47D4-AA8D-686284FA692D}">
      <dsp:nvSpPr>
        <dsp:cNvPr id="0" name=""/>
        <dsp:cNvSpPr/>
      </dsp:nvSpPr>
      <dsp:spPr>
        <a:xfrm>
          <a:off x="3894035" y="1368566"/>
          <a:ext cx="1655859" cy="66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Scheduling/Coordination delay</a:t>
          </a:r>
          <a:endParaRPr lang="en-US" sz="1200" kern="1200"/>
        </a:p>
      </dsp:txBody>
      <dsp:txXfrm>
        <a:off x="3894035" y="1368566"/>
        <a:ext cx="1655859" cy="662343"/>
      </dsp:txXfrm>
    </dsp:sp>
    <dsp:sp modelId="{92EDCACF-430C-4A35-96FB-3097D8115A07}">
      <dsp:nvSpPr>
        <dsp:cNvPr id="0" name=""/>
        <dsp:cNvSpPr/>
      </dsp:nvSpPr>
      <dsp:spPr>
        <a:xfrm>
          <a:off x="1430944" y="2444874"/>
          <a:ext cx="745136" cy="745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EAE8DC-B874-4EBD-B833-AE55E3F7050E}">
      <dsp:nvSpPr>
        <dsp:cNvPr id="0" name=""/>
        <dsp:cNvSpPr/>
      </dsp:nvSpPr>
      <dsp:spPr>
        <a:xfrm>
          <a:off x="975583" y="3458558"/>
          <a:ext cx="1655859" cy="66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Machine breakdown</a:t>
          </a:r>
          <a:endParaRPr lang="en-US" sz="1200" kern="1200"/>
        </a:p>
      </dsp:txBody>
      <dsp:txXfrm>
        <a:off x="975583" y="3458558"/>
        <a:ext cx="1655859" cy="662343"/>
      </dsp:txXfrm>
    </dsp:sp>
    <dsp:sp modelId="{85D2BD03-7375-4EB1-AF95-6388B26FBF51}">
      <dsp:nvSpPr>
        <dsp:cNvPr id="0" name=""/>
        <dsp:cNvSpPr/>
      </dsp:nvSpPr>
      <dsp:spPr>
        <a:xfrm>
          <a:off x="3376579" y="2444874"/>
          <a:ext cx="745136" cy="745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F6BBEA-81A9-44DA-B001-ED86EE591B0C}">
      <dsp:nvSpPr>
        <dsp:cNvPr id="0" name=""/>
        <dsp:cNvSpPr/>
      </dsp:nvSpPr>
      <dsp:spPr>
        <a:xfrm>
          <a:off x="2921218" y="3458558"/>
          <a:ext cx="1655859" cy="66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Safety lockout/emergency stop</a:t>
          </a:r>
          <a:endParaRPr lang="en-US" sz="1200" kern="1200"/>
        </a:p>
      </dsp:txBody>
      <dsp:txXfrm>
        <a:off x="2921218" y="3458558"/>
        <a:ext cx="1655859" cy="6623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F4D1F-5F4B-7CDE-EAF9-BBA25B9E59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FB3256-44AC-9A22-7426-266334E53C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A910B-F8F7-57CA-2C99-DBE6D1854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2FA92-FEB9-43AB-863C-0DA72BC2862E}" type="datetimeFigureOut">
              <a:rPr lang="en-GB" smtClean="0"/>
              <a:t>28/05/2026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D5046-424D-169D-D305-4CD605E42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62E4D-2327-4030-BC28-C722EFAEA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57473-3B26-4020-92C9-F836E506E3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0400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0102E-C583-95C8-D3D8-CC544E891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B5F40-5A6A-D929-72E8-3F562059D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BD083-E08E-7AF0-26D3-503049D79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2FA92-FEB9-43AB-863C-0DA72BC2862E}" type="datetimeFigureOut">
              <a:rPr lang="en-GB" smtClean="0"/>
              <a:t>28/05/2026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7BED7-1854-2659-1A4A-3DFD4CBB1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B49D4-F85D-0958-9C03-3607BE4AB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57473-3B26-4020-92C9-F836E506E3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8217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7CA7B-EC42-D94B-3278-CBAF836D0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0C187-5803-4B87-3841-0A0FA1AD5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B80A6-F22B-E1FE-6716-959A7E3E4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2FA92-FEB9-43AB-863C-0DA72BC2862E}" type="datetimeFigureOut">
              <a:rPr lang="en-GB" smtClean="0"/>
              <a:t>28/05/2026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30A3E-BA39-743D-9A6A-572BEE795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D900D-6169-70BB-B404-130BA0C62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57473-3B26-4020-92C9-F836E506E3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7043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D8CE9-7D8D-F954-7725-08A4BD065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4434D-2C16-6EC3-D4C8-0A9DEE9CEC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416E48-6AB2-CF6B-4136-BAC16DF6B6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77096-C62D-EEB8-A6A8-CC37CE1DB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2FA92-FEB9-43AB-863C-0DA72BC2862E}" type="datetimeFigureOut">
              <a:rPr lang="en-GB" smtClean="0"/>
              <a:t>28/05/2026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27A25E-3CB0-BBAC-6993-C9386B9BA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E860B5-2C5F-8AA9-570C-FD9C87E4F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57473-3B26-4020-92C9-F836E506E3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770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1A1BF-C34D-0DA1-F07D-E47352630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638FB9-EBB6-18D9-EFFD-63E099A8B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4433A0-2454-052B-CA21-B4D483A1EF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C30CD5-F7F3-0C1C-872F-E9204EA95B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7F5A81-4E5B-AC02-D7FF-06A78157A5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212C5C-573A-7DD5-9E7E-5FD2A4726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2FA92-FEB9-43AB-863C-0DA72BC2862E}" type="datetimeFigureOut">
              <a:rPr lang="en-GB" smtClean="0"/>
              <a:t>28/05/2026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AE95D5-4FC2-AB15-0172-D8EE00CD9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CCACEA-DC19-1763-6287-499B19E1C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57473-3B26-4020-92C9-F836E506E3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3055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63493-932A-A3BD-666C-2736E72A1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AAC348-05FC-E50D-7AAF-37EA55367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2FA92-FEB9-43AB-863C-0DA72BC2862E}" type="datetimeFigureOut">
              <a:rPr lang="en-GB" smtClean="0"/>
              <a:t>28/05/2026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296A92-7A4E-7564-D7B5-A8BAFC111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009C5-802C-75B2-DF21-825D779B9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57473-3B26-4020-92C9-F836E506E3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2056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B20B41-640B-CAF0-6D82-EA1D9DB57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2FA92-FEB9-43AB-863C-0DA72BC2862E}" type="datetimeFigureOut">
              <a:rPr lang="en-GB" smtClean="0"/>
              <a:t>28/05/2026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097DAB-1140-1340-3E8E-076A1E7CC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A44F1-8575-0879-D400-0A46D0BEB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57473-3B26-4020-92C9-F836E506E3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8594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7A16C-2723-D7BB-145A-3E2138812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CACCE-02F5-ED94-DA96-775499697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419390-1C7D-B540-F9D0-86EF709242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047DF0-9461-89D4-E0F1-8B65EC399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2FA92-FEB9-43AB-863C-0DA72BC2862E}" type="datetimeFigureOut">
              <a:rPr lang="en-GB" smtClean="0"/>
              <a:t>28/05/2026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47375D-1287-23F5-2ECF-090D42B82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833817-51FC-D209-0B5F-5493BE636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57473-3B26-4020-92C9-F836E506E3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0100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3F814-40AD-3617-8101-B76668197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880CFC-5300-CD03-1C2B-B0B1CF2CBD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30A783-F0DF-1C3D-1900-DFEB262E40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D9C1FB-1F6E-087D-D9FB-013468816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2FA92-FEB9-43AB-863C-0DA72BC2862E}" type="datetimeFigureOut">
              <a:rPr lang="en-GB" smtClean="0"/>
              <a:t>28/05/2026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154417-D018-7111-0501-4BB12D73D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A5488B-1827-A7AD-D47A-038D99FD7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57473-3B26-4020-92C9-F836E506E3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1523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EE77D-5975-274D-C9C3-9610EDB81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227B27-DE18-90AD-ABFB-A8C747CCD9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BACEC-017E-9AF2-33B2-B10DB0A47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2FA92-FEB9-43AB-863C-0DA72BC2862E}" type="datetimeFigureOut">
              <a:rPr lang="en-GB" smtClean="0"/>
              <a:t>28/05/2026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9BC5-E3ED-9D7C-43B7-356BB4E81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DC564-5241-E66C-D0AC-9CF2B56D5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57473-3B26-4020-92C9-F836E506E3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2911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FA8919-6308-8DBC-B8EB-8EF7E8C4F3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23AA52-0743-1C4A-F0C3-98FD90F6DC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AC4A0-2BD0-F48A-889F-456CB6AA6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2FA92-FEB9-43AB-863C-0DA72BC2862E}" type="datetimeFigureOut">
              <a:rPr lang="en-GB" smtClean="0"/>
              <a:t>28/05/2026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B488A-7F6E-B359-CAB5-77FB3A9EC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15201-8E22-5347-C3F5-36661D2F8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57473-3B26-4020-92C9-F836E506E3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178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988FA0-C247-7941-9041-4326A552B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F7032-5B27-1CC9-F1A2-3902A7234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91FC5-61CB-1BCD-0B68-8C7A1EB15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F2FA92-FEB9-43AB-863C-0DA72BC2862E}" type="datetimeFigureOut">
              <a:rPr lang="en-GB" smtClean="0"/>
              <a:t>28/05/2026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B4FAF-1D11-BFF8-0BA1-31986AC153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AD26D-008D-595C-7449-39BFF91D9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157473-3B26-4020-92C9-F836E506E3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5414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9.jp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8F5A2-6579-3FB9-9F80-E9371EE1CC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Evaluating Production Bottlenecks Through Downtime Analysis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1C9AE-C824-2414-E28E-0E5CFC5E3F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936" y="3364594"/>
            <a:ext cx="4517534" cy="2844182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/>
              <a:t>Presented by Oluwaseun Ifekoya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2254EF-E018-3995-FC17-4B8832FE38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699516"/>
            <a:ext cx="5458968" cy="545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689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97BBF2-21DA-D0C1-9D65-1E14190D7B03}"/>
              </a:ext>
            </a:extLst>
          </p:cNvPr>
          <p:cNvSpPr txBox="1"/>
          <p:nvPr/>
        </p:nvSpPr>
        <p:spPr>
          <a:xfrm>
            <a:off x="2141796" y="1635636"/>
            <a:ext cx="10048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/>
              <a:t>645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1BFC04-E9B9-A63F-A894-E7236ADE21C7}"/>
              </a:ext>
            </a:extLst>
          </p:cNvPr>
          <p:cNvSpPr txBox="1"/>
          <p:nvPr/>
        </p:nvSpPr>
        <p:spPr>
          <a:xfrm>
            <a:off x="1631537" y="2332771"/>
            <a:ext cx="255228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    Batches Produced</a:t>
            </a:r>
          </a:p>
          <a:p>
            <a:r>
              <a:rPr lang="en-GB" sz="1600" dirty="0"/>
              <a:t>      </a:t>
            </a:r>
            <a:r>
              <a:rPr lang="en-GB" sz="1400" dirty="0"/>
              <a:t>Total production runs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3A0515-FB63-F9A9-5644-8318CBC9B6C6}"/>
              </a:ext>
            </a:extLst>
          </p:cNvPr>
          <p:cNvSpPr txBox="1"/>
          <p:nvPr/>
        </p:nvSpPr>
        <p:spPr>
          <a:xfrm>
            <a:off x="5652662" y="1662762"/>
            <a:ext cx="10048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/>
              <a:t>363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34EFC5-845B-C891-5C4B-5508572E3ACC}"/>
              </a:ext>
            </a:extLst>
          </p:cNvPr>
          <p:cNvSpPr txBox="1"/>
          <p:nvPr/>
        </p:nvSpPr>
        <p:spPr>
          <a:xfrm>
            <a:off x="5050874" y="2281967"/>
            <a:ext cx="2090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    Delayed Batches</a:t>
            </a:r>
          </a:p>
          <a:p>
            <a:r>
              <a:rPr lang="en-GB" sz="1600" dirty="0"/>
              <a:t>     </a:t>
            </a:r>
            <a:r>
              <a:rPr lang="en-GB" sz="1400" dirty="0"/>
              <a:t>Batches experiencing </a:t>
            </a:r>
          </a:p>
          <a:p>
            <a:r>
              <a:rPr lang="en-GB" sz="1400" dirty="0"/>
              <a:t>        production delays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5F4FF7-43DA-22C1-1A23-3B7877D55AC4}"/>
              </a:ext>
            </a:extLst>
          </p:cNvPr>
          <p:cNvSpPr txBox="1"/>
          <p:nvPr/>
        </p:nvSpPr>
        <p:spPr>
          <a:xfrm>
            <a:off x="311498" y="395503"/>
            <a:ext cx="9355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/>
              <a:t>Key Performance Indicators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01186D-6793-4C51-58E7-091DAF542141}"/>
              </a:ext>
            </a:extLst>
          </p:cNvPr>
          <p:cNvSpPr txBox="1"/>
          <p:nvPr/>
        </p:nvSpPr>
        <p:spPr>
          <a:xfrm>
            <a:off x="9045370" y="1635636"/>
            <a:ext cx="8407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/>
              <a:t>22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5C1878-5A25-28FD-BA68-BC4E8CBB6F67}"/>
              </a:ext>
            </a:extLst>
          </p:cNvPr>
          <p:cNvSpPr txBox="1"/>
          <p:nvPr/>
        </p:nvSpPr>
        <p:spPr>
          <a:xfrm>
            <a:off x="7993198" y="2281967"/>
            <a:ext cx="281856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                   Days Lost</a:t>
            </a:r>
          </a:p>
          <a:p>
            <a:r>
              <a:rPr lang="en-GB" sz="1600" dirty="0"/>
              <a:t>  </a:t>
            </a:r>
            <a:r>
              <a:rPr lang="en-GB" sz="1400" dirty="0"/>
              <a:t>Total days lost due to downtime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8CBF68-2759-E85B-28CA-DC98F728BEB3}"/>
              </a:ext>
            </a:extLst>
          </p:cNvPr>
          <p:cNvSpPr txBox="1"/>
          <p:nvPr/>
        </p:nvSpPr>
        <p:spPr>
          <a:xfrm>
            <a:off x="823965" y="3702742"/>
            <a:ext cx="10386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/>
              <a:t>885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4BDE43-97C2-5B4B-5799-034C3DF2FA28}"/>
              </a:ext>
            </a:extLst>
          </p:cNvPr>
          <p:cNvSpPr txBox="1"/>
          <p:nvPr/>
        </p:nvSpPr>
        <p:spPr>
          <a:xfrm>
            <a:off x="311498" y="4334932"/>
            <a:ext cx="224078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  Downtime Factors</a:t>
            </a:r>
          </a:p>
          <a:p>
            <a:r>
              <a:rPr lang="en-GB" dirty="0"/>
              <a:t>     </a:t>
            </a:r>
            <a:r>
              <a:rPr lang="en-GB" sz="1400" dirty="0"/>
              <a:t>Total instances of </a:t>
            </a:r>
          </a:p>
          <a:p>
            <a:r>
              <a:rPr lang="en-GB" sz="1400" dirty="0"/>
              <a:t>   Contributing factors.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A6F20F-2AE3-5522-8E8A-29A61FF9025A}"/>
              </a:ext>
            </a:extLst>
          </p:cNvPr>
          <p:cNvSpPr txBox="1"/>
          <p:nvPr/>
        </p:nvSpPr>
        <p:spPr>
          <a:xfrm>
            <a:off x="4401177" y="3688601"/>
            <a:ext cx="7737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/>
              <a:t>13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B1E80A-B483-FD33-0A55-3FCB80E5E22A}"/>
              </a:ext>
            </a:extLst>
          </p:cNvPr>
          <p:cNvSpPr txBox="1"/>
          <p:nvPr/>
        </p:nvSpPr>
        <p:spPr>
          <a:xfrm>
            <a:off x="3295005" y="4334932"/>
            <a:ext cx="3226375" cy="860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Distinctive Downtime Factors</a:t>
            </a:r>
          </a:p>
          <a:p>
            <a:r>
              <a:rPr lang="en-GB" sz="1400" dirty="0"/>
              <a:t>          Distinctive instances of </a:t>
            </a:r>
          </a:p>
          <a:p>
            <a:r>
              <a:rPr lang="en-GB" sz="1400" dirty="0"/>
              <a:t>              contributing factors</a:t>
            </a:r>
            <a:r>
              <a:rPr lang="en-GB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213F8E-4EB5-6FFF-5C77-F3065FEBA5CC}"/>
              </a:ext>
            </a:extLst>
          </p:cNvPr>
          <p:cNvSpPr txBox="1"/>
          <p:nvPr/>
        </p:nvSpPr>
        <p:spPr>
          <a:xfrm>
            <a:off x="8164021" y="3688600"/>
            <a:ext cx="6732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6A3057-B75A-E5DB-4759-DA8C1EC2F084}"/>
              </a:ext>
            </a:extLst>
          </p:cNvPr>
          <p:cNvSpPr txBox="1"/>
          <p:nvPr/>
        </p:nvSpPr>
        <p:spPr>
          <a:xfrm>
            <a:off x="7353925" y="4334931"/>
            <a:ext cx="25321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    Max Factors per Batch</a:t>
            </a:r>
          </a:p>
          <a:p>
            <a:r>
              <a:rPr lang="en-GB" sz="1400" dirty="0"/>
              <a:t>       Maximum instances of contributing factors per batch.</a:t>
            </a:r>
          </a:p>
        </p:txBody>
      </p:sp>
    </p:spTree>
    <p:extLst>
      <p:ext uri="{BB962C8B-B14F-4D97-AF65-F5344CB8AC3E}">
        <p14:creationId xmlns:p14="http://schemas.microsoft.com/office/powerpoint/2010/main" val="1796836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DC8BAD-3456-C5A0-5A50-955D1A8E8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857576"/>
            <a:ext cx="4654497" cy="1068140"/>
          </a:xfrm>
        </p:spPr>
        <p:txBody>
          <a:bodyPr anchor="b">
            <a:normAutofit fontScale="90000"/>
          </a:bodyPr>
          <a:lstStyle/>
          <a:p>
            <a:r>
              <a:rPr lang="en-GB" sz="3600" b="1" dirty="0"/>
              <a:t>Product Downtime Frequency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885B9-68D1-F0E9-5F8E-DF5F1FDABB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654497" cy="374994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 sz="1400" dirty="0"/>
              <a:t>GreenTech produces more Eco-cleaning supplies product than Recyclable packaging products, hence the Eco-cleaning supplies category has more downtime frequency. </a:t>
            </a:r>
          </a:p>
          <a:p>
            <a:pPr marL="0" indent="0">
              <a:buNone/>
            </a:pPr>
            <a:r>
              <a:rPr lang="en-GB" sz="1400" dirty="0"/>
              <a:t>Among the products, GreenFoam hand soap experienced most downtime during production with factors from Cleaning/Sanitation cycle, Raw material shortage, and Machine Breakdown.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476F22-16CE-D469-43AF-9859C87E77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5256" y="943702"/>
            <a:ext cx="4654497" cy="527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626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417FD-3669-C8DB-7667-0A4500D90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/>
              <a:t>Root Causes of Downtime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50E056B-8FFE-515A-2490-BCFEEBB34E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2898587"/>
              </p:ext>
            </p:extLst>
          </p:nvPr>
        </p:nvGraphicFramePr>
        <p:xfrm>
          <a:off x="629264" y="1809134"/>
          <a:ext cx="4218039" cy="37952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8F19FCC-054A-60C9-8A0F-FBDAF1EC0118}"/>
              </a:ext>
            </a:extLst>
          </p:cNvPr>
          <p:cNvSpPr txBox="1"/>
          <p:nvPr/>
        </p:nvSpPr>
        <p:spPr>
          <a:xfrm>
            <a:off x="6901016" y="2000242"/>
            <a:ext cx="3227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Non- Operator Factors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0BD247-56F0-704E-32CB-02CAD6C57A32}"/>
              </a:ext>
            </a:extLst>
          </p:cNvPr>
          <p:cNvSpPr txBox="1"/>
          <p:nvPr/>
        </p:nvSpPr>
        <p:spPr>
          <a:xfrm>
            <a:off x="5122606" y="2369574"/>
            <a:ext cx="67842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Majorly cleaning/sanitation cycle, raw material shortage and machine breakdown.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483227-D110-969C-BBC0-D073960876CA}"/>
              </a:ext>
            </a:extLst>
          </p:cNvPr>
          <p:cNvSpPr txBox="1"/>
          <p:nvPr/>
        </p:nvSpPr>
        <p:spPr>
          <a:xfrm>
            <a:off x="7225482" y="3706759"/>
            <a:ext cx="2117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Operator Factors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EF1075-009A-8AAD-9387-D287E703F32C}"/>
              </a:ext>
            </a:extLst>
          </p:cNvPr>
          <p:cNvSpPr txBox="1"/>
          <p:nvPr/>
        </p:nvSpPr>
        <p:spPr>
          <a:xfrm>
            <a:off x="5250426" y="4326194"/>
            <a:ext cx="64892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Scheduling/coordination delay and safety lockout/emergency stop are major causes of downtime by operator errors.</a:t>
            </a:r>
          </a:p>
        </p:txBody>
      </p:sp>
    </p:spTree>
    <p:extLst>
      <p:ext uri="{BB962C8B-B14F-4D97-AF65-F5344CB8AC3E}">
        <p14:creationId xmlns:p14="http://schemas.microsoft.com/office/powerpoint/2010/main" val="3327364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7C18D-7C64-F9BE-2141-E13C2C187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218" y="428801"/>
            <a:ext cx="10285325" cy="899193"/>
          </a:xfrm>
        </p:spPr>
        <p:txBody>
          <a:bodyPr>
            <a:normAutofit/>
          </a:bodyPr>
          <a:lstStyle/>
          <a:p>
            <a:r>
              <a:rPr lang="en-GB" sz="3200" b="1" dirty="0"/>
              <a:t>Downtime Trends(March – August 2025)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D8C2BBF-87ED-F52B-4549-7388E0FC08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653" y="2130334"/>
            <a:ext cx="4950082" cy="30258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56B01C-9C8C-B2BC-2199-93E1CC39E49D}"/>
              </a:ext>
            </a:extLst>
          </p:cNvPr>
          <p:cNvSpPr txBox="1"/>
          <p:nvPr/>
        </p:nvSpPr>
        <p:spPr>
          <a:xfrm>
            <a:off x="426218" y="1327994"/>
            <a:ext cx="7270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Most downtimes occurred in April and August, with the least in March.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19C80A-99FC-850B-A2C3-BFD526B52273}"/>
              </a:ext>
            </a:extLst>
          </p:cNvPr>
          <p:cNvSpPr txBox="1"/>
          <p:nvPr/>
        </p:nvSpPr>
        <p:spPr>
          <a:xfrm>
            <a:off x="6461090" y="2280976"/>
            <a:ext cx="521425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April experienced a spike due to increase downtime in Greenfoam hand soap and Repack recycled packaging film production.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Downward trend observed from May to July.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Biowipe cleaning sheets had a consistent increase in downtime from April to July.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High downtime recorded in August.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Greenfoam hand soap had a spike in downtime in August. </a:t>
            </a:r>
          </a:p>
        </p:txBody>
      </p:sp>
    </p:spTree>
    <p:extLst>
      <p:ext uri="{BB962C8B-B14F-4D97-AF65-F5344CB8AC3E}">
        <p14:creationId xmlns:p14="http://schemas.microsoft.com/office/powerpoint/2010/main" val="2442125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6FD00-0B52-ACA0-5C7C-CA123E985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/>
              <a:t>Consistent Downtime Causes</a:t>
            </a:r>
            <a:endParaRPr lang="en-GB" sz="3200" b="1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68A955-62D7-21D0-C7A0-ABC404A10D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8818945"/>
              </p:ext>
            </p:extLst>
          </p:nvPr>
        </p:nvGraphicFramePr>
        <p:xfrm>
          <a:off x="838200" y="1825624"/>
          <a:ext cx="5552661" cy="44757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7BE0DA1-1065-5E73-6B82-36D5CBFE884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3743" y="2485430"/>
            <a:ext cx="5232959" cy="3156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100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FC6CB-045A-C0C5-F54B-F0B0FB804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7571"/>
          </a:xfrm>
        </p:spPr>
        <p:txBody>
          <a:bodyPr>
            <a:normAutofit/>
          </a:bodyPr>
          <a:lstStyle/>
          <a:p>
            <a:r>
              <a:rPr lang="en-GB" sz="3600" b="1" dirty="0"/>
              <a:t>Operator Downtime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86B0B-793A-F8E6-CFEF-8D51DE7DD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2697"/>
            <a:ext cx="5592418" cy="23356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400" b="1" dirty="0"/>
              <a:t>Most Downtimes (Frequency)</a:t>
            </a:r>
          </a:p>
          <a:p>
            <a:r>
              <a:rPr lang="en-GB" sz="1400" dirty="0"/>
              <a:t>Paul</a:t>
            </a:r>
          </a:p>
          <a:p>
            <a:r>
              <a:rPr lang="en-GB" sz="1400" dirty="0"/>
              <a:t>James</a:t>
            </a:r>
          </a:p>
          <a:p>
            <a:r>
              <a:rPr lang="en-GB" sz="1400" dirty="0"/>
              <a:t>Emily</a:t>
            </a:r>
          </a:p>
          <a:p>
            <a:pPr marL="0" indent="0">
              <a:buNone/>
            </a:pPr>
            <a:r>
              <a:rPr lang="en-GB" sz="1400" dirty="0"/>
              <a:t>Major Factors: Safety lockout/Emergency stop, Cleaning/Sanitation cycle, Scheduling/Coordination delay, Machine breakdown, and Changeover delay.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6828B6-1E50-9F39-6598-54692F784AE0}"/>
              </a:ext>
            </a:extLst>
          </p:cNvPr>
          <p:cNvSpPr txBox="1"/>
          <p:nvPr/>
        </p:nvSpPr>
        <p:spPr>
          <a:xfrm>
            <a:off x="7374835" y="1063487"/>
            <a:ext cx="457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Highest Percentage of Delayed Batches</a:t>
            </a:r>
          </a:p>
          <a:p>
            <a:endParaRPr lang="en-GB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Linda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Sophia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Rita</a:t>
            </a:r>
          </a:p>
          <a:p>
            <a:endParaRPr lang="en-GB" sz="1400" dirty="0"/>
          </a:p>
          <a:p>
            <a:r>
              <a:rPr lang="en-GB" sz="1400" dirty="0"/>
              <a:t>Major Factors: Scheduling/Coordination delay, Packaging material defect, and Safety lockout/Emergency stop.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B4535D-E6D8-BFB8-E168-A09EB2E088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3224136"/>
            <a:ext cx="5257801" cy="32687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C8F978A-3DDF-3993-80F1-11A688C2BC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4357" y="3224136"/>
            <a:ext cx="4702478" cy="285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724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D13CC36-B950-4F02-9BAF-9A7EB267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FFDB03-9644-5AE6-10E5-74FDBB709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6478417" cy="1322887"/>
          </a:xfrm>
        </p:spPr>
        <p:txBody>
          <a:bodyPr>
            <a:normAutofit/>
          </a:bodyPr>
          <a:lstStyle/>
          <a:p>
            <a:r>
              <a:rPr lang="en-GB" sz="3600" b="1" dirty="0"/>
              <a:t>Downtime Impact: Time Lost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1657055-16FE-41A2-B207-7880F6DCA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89924" y="2"/>
            <a:ext cx="7602076" cy="470844"/>
          </a:xfrm>
          <a:custGeom>
            <a:avLst/>
            <a:gdLst>
              <a:gd name="connsiteX0" fmla="*/ 9683888 w 9683888"/>
              <a:gd name="connsiteY0" fmla="*/ 0 h 743457"/>
              <a:gd name="connsiteX1" fmla="*/ 0 w 9683888"/>
              <a:gd name="connsiteY1" fmla="*/ 0 h 743457"/>
              <a:gd name="connsiteX2" fmla="*/ 0 w 9683888"/>
              <a:gd name="connsiteY2" fmla="*/ 365878 h 743457"/>
              <a:gd name="connsiteX3" fmla="*/ 11844 w 9683888"/>
              <a:gd name="connsiteY3" fmla="*/ 367909 h 743457"/>
              <a:gd name="connsiteX4" fmla="*/ 106208 w 9683888"/>
              <a:gd name="connsiteY4" fmla="*/ 385974 h 743457"/>
              <a:gd name="connsiteX5" fmla="*/ 183667 w 9683888"/>
              <a:gd name="connsiteY5" fmla="*/ 399162 h 743457"/>
              <a:gd name="connsiteX6" fmla="*/ 292430 w 9683888"/>
              <a:gd name="connsiteY6" fmla="*/ 390408 h 743457"/>
              <a:gd name="connsiteX7" fmla="*/ 386942 w 9683888"/>
              <a:gd name="connsiteY7" fmla="*/ 395582 h 743457"/>
              <a:gd name="connsiteX8" fmla="*/ 485751 w 9683888"/>
              <a:gd name="connsiteY8" fmla="*/ 408404 h 743457"/>
              <a:gd name="connsiteX9" fmla="*/ 604107 w 9683888"/>
              <a:gd name="connsiteY9" fmla="*/ 418647 h 743457"/>
              <a:gd name="connsiteX10" fmla="*/ 694081 w 9683888"/>
              <a:gd name="connsiteY10" fmla="*/ 449524 h 743457"/>
              <a:gd name="connsiteX11" fmla="*/ 762452 w 9683888"/>
              <a:gd name="connsiteY11" fmla="*/ 456090 h 743457"/>
              <a:gd name="connsiteX12" fmla="*/ 987872 w 9683888"/>
              <a:gd name="connsiteY12" fmla="*/ 481862 h 743457"/>
              <a:gd name="connsiteX13" fmla="*/ 1077163 w 9683888"/>
              <a:gd name="connsiteY13" fmla="*/ 524467 h 743457"/>
              <a:gd name="connsiteX14" fmla="*/ 1258716 w 9683888"/>
              <a:gd name="connsiteY14" fmla="*/ 587975 h 743457"/>
              <a:gd name="connsiteX15" fmla="*/ 1298056 w 9683888"/>
              <a:gd name="connsiteY15" fmla="*/ 595413 h 743457"/>
              <a:gd name="connsiteX16" fmla="*/ 1327017 w 9683888"/>
              <a:gd name="connsiteY16" fmla="*/ 617412 h 743457"/>
              <a:gd name="connsiteX17" fmla="*/ 1347909 w 9683888"/>
              <a:gd name="connsiteY17" fmla="*/ 620209 h 743457"/>
              <a:gd name="connsiteX18" fmla="*/ 1421792 w 9683888"/>
              <a:gd name="connsiteY18" fmla="*/ 626139 h 743457"/>
              <a:gd name="connsiteX19" fmla="*/ 1519789 w 9683888"/>
              <a:gd name="connsiteY19" fmla="*/ 645011 h 743457"/>
              <a:gd name="connsiteX20" fmla="*/ 1620886 w 9683888"/>
              <a:gd name="connsiteY20" fmla="*/ 687715 h 743457"/>
              <a:gd name="connsiteX21" fmla="*/ 1676745 w 9683888"/>
              <a:gd name="connsiteY21" fmla="*/ 690130 h 743457"/>
              <a:gd name="connsiteX22" fmla="*/ 1832228 w 9683888"/>
              <a:gd name="connsiteY22" fmla="*/ 690860 h 743457"/>
              <a:gd name="connsiteX23" fmla="*/ 1980464 w 9683888"/>
              <a:gd name="connsiteY23" fmla="*/ 704858 h 743457"/>
              <a:gd name="connsiteX24" fmla="*/ 2051150 w 9683888"/>
              <a:gd name="connsiteY24" fmla="*/ 711187 h 743457"/>
              <a:gd name="connsiteX25" fmla="*/ 2162824 w 9683888"/>
              <a:gd name="connsiteY25" fmla="*/ 709178 h 743457"/>
              <a:gd name="connsiteX26" fmla="*/ 2259859 w 9683888"/>
              <a:gd name="connsiteY26" fmla="*/ 718188 h 743457"/>
              <a:gd name="connsiteX27" fmla="*/ 2378290 w 9683888"/>
              <a:gd name="connsiteY27" fmla="*/ 738748 h 743457"/>
              <a:gd name="connsiteX28" fmla="*/ 2407828 w 9683888"/>
              <a:gd name="connsiteY28" fmla="*/ 743457 h 743457"/>
              <a:gd name="connsiteX29" fmla="*/ 2428936 w 9683888"/>
              <a:gd name="connsiteY29" fmla="*/ 734697 h 743457"/>
              <a:gd name="connsiteX30" fmla="*/ 2646106 w 9683888"/>
              <a:gd name="connsiteY30" fmla="*/ 660204 h 743457"/>
              <a:gd name="connsiteX31" fmla="*/ 2799920 w 9683888"/>
              <a:gd name="connsiteY31" fmla="*/ 630451 h 743457"/>
              <a:gd name="connsiteX32" fmla="*/ 2953556 w 9683888"/>
              <a:gd name="connsiteY32" fmla="*/ 607173 h 743457"/>
              <a:gd name="connsiteX33" fmla="*/ 3009839 w 9683888"/>
              <a:gd name="connsiteY33" fmla="*/ 601743 h 743457"/>
              <a:gd name="connsiteX34" fmla="*/ 3115016 w 9683888"/>
              <a:gd name="connsiteY34" fmla="*/ 584982 h 743457"/>
              <a:gd name="connsiteX35" fmla="*/ 3185844 w 9683888"/>
              <a:gd name="connsiteY35" fmla="*/ 595356 h 743457"/>
              <a:gd name="connsiteX36" fmla="*/ 3246013 w 9683888"/>
              <a:gd name="connsiteY36" fmla="*/ 592418 h 743457"/>
              <a:gd name="connsiteX37" fmla="*/ 3313565 w 9683888"/>
              <a:gd name="connsiteY37" fmla="*/ 574138 h 743457"/>
              <a:gd name="connsiteX38" fmla="*/ 3414143 w 9683888"/>
              <a:gd name="connsiteY38" fmla="*/ 553730 h 743457"/>
              <a:gd name="connsiteX39" fmla="*/ 3552895 w 9683888"/>
              <a:gd name="connsiteY39" fmla="*/ 548563 h 743457"/>
              <a:gd name="connsiteX40" fmla="*/ 3753012 w 9683888"/>
              <a:gd name="connsiteY40" fmla="*/ 599520 h 743457"/>
              <a:gd name="connsiteX41" fmla="*/ 3804392 w 9683888"/>
              <a:gd name="connsiteY41" fmla="*/ 604131 h 743457"/>
              <a:gd name="connsiteX42" fmla="*/ 3916696 w 9683888"/>
              <a:gd name="connsiteY42" fmla="*/ 606540 h 743457"/>
              <a:gd name="connsiteX43" fmla="*/ 4063849 w 9683888"/>
              <a:gd name="connsiteY43" fmla="*/ 604058 h 743457"/>
              <a:gd name="connsiteX44" fmla="*/ 4172179 w 9683888"/>
              <a:gd name="connsiteY44" fmla="*/ 592355 h 743457"/>
              <a:gd name="connsiteX45" fmla="*/ 4276294 w 9683888"/>
              <a:gd name="connsiteY45" fmla="*/ 587119 h 743457"/>
              <a:gd name="connsiteX46" fmla="*/ 4411090 w 9683888"/>
              <a:gd name="connsiteY46" fmla="*/ 575600 h 743457"/>
              <a:gd name="connsiteX47" fmla="*/ 4540465 w 9683888"/>
              <a:gd name="connsiteY47" fmla="*/ 567464 h 743457"/>
              <a:gd name="connsiteX48" fmla="*/ 4545352 w 9683888"/>
              <a:gd name="connsiteY48" fmla="*/ 555554 h 743457"/>
              <a:gd name="connsiteX49" fmla="*/ 4564014 w 9683888"/>
              <a:gd name="connsiteY49" fmla="*/ 553660 h 743457"/>
              <a:gd name="connsiteX50" fmla="*/ 4568602 w 9683888"/>
              <a:gd name="connsiteY50" fmla="*/ 550913 h 743457"/>
              <a:gd name="connsiteX51" fmla="*/ 4595289 w 9683888"/>
              <a:gd name="connsiteY51" fmla="*/ 537407 h 743457"/>
              <a:gd name="connsiteX52" fmla="*/ 4739026 w 9683888"/>
              <a:gd name="connsiteY52" fmla="*/ 532483 h 743457"/>
              <a:gd name="connsiteX53" fmla="*/ 5061335 w 9683888"/>
              <a:gd name="connsiteY53" fmla="*/ 545635 h 743457"/>
              <a:gd name="connsiteX54" fmla="*/ 5338634 w 9683888"/>
              <a:gd name="connsiteY54" fmla="*/ 595754 h 743457"/>
              <a:gd name="connsiteX55" fmla="*/ 5529430 w 9683888"/>
              <a:gd name="connsiteY55" fmla="*/ 606335 h 743457"/>
              <a:gd name="connsiteX56" fmla="*/ 5604039 w 9683888"/>
              <a:gd name="connsiteY56" fmla="*/ 607676 h 743457"/>
              <a:gd name="connsiteX57" fmla="*/ 5625281 w 9683888"/>
              <a:gd name="connsiteY57" fmla="*/ 617253 h 743457"/>
              <a:gd name="connsiteX58" fmla="*/ 5628138 w 9683888"/>
              <a:gd name="connsiteY58" fmla="*/ 615483 h 743457"/>
              <a:gd name="connsiteX59" fmla="*/ 5653593 w 9683888"/>
              <a:gd name="connsiteY59" fmla="*/ 617873 h 743457"/>
              <a:gd name="connsiteX60" fmla="*/ 5658658 w 9683888"/>
              <a:gd name="connsiteY60" fmla="*/ 624279 h 743457"/>
              <a:gd name="connsiteX61" fmla="*/ 5675963 w 9683888"/>
              <a:gd name="connsiteY61" fmla="*/ 627762 h 743457"/>
              <a:gd name="connsiteX62" fmla="*/ 5709625 w 9683888"/>
              <a:gd name="connsiteY62" fmla="*/ 639593 h 743457"/>
              <a:gd name="connsiteX63" fmla="*/ 5716324 w 9683888"/>
              <a:gd name="connsiteY63" fmla="*/ 637148 h 743457"/>
              <a:gd name="connsiteX64" fmla="*/ 5767720 w 9683888"/>
              <a:gd name="connsiteY64" fmla="*/ 647737 h 743457"/>
              <a:gd name="connsiteX65" fmla="*/ 5768619 w 9683888"/>
              <a:gd name="connsiteY65" fmla="*/ 645671 h 743457"/>
              <a:gd name="connsiteX66" fmla="*/ 5858696 w 9683888"/>
              <a:gd name="connsiteY66" fmla="*/ 628099 h 743457"/>
              <a:gd name="connsiteX67" fmla="*/ 5935260 w 9683888"/>
              <a:gd name="connsiteY67" fmla="*/ 596904 h 743457"/>
              <a:gd name="connsiteX68" fmla="*/ 5946176 w 9683888"/>
              <a:gd name="connsiteY68" fmla="*/ 597874 h 743457"/>
              <a:gd name="connsiteX69" fmla="*/ 5946447 w 9683888"/>
              <a:gd name="connsiteY69" fmla="*/ 597396 h 743457"/>
              <a:gd name="connsiteX70" fmla="*/ 5958069 w 9683888"/>
              <a:gd name="connsiteY70" fmla="*/ 597432 h 743457"/>
              <a:gd name="connsiteX71" fmla="*/ 5966081 w 9683888"/>
              <a:gd name="connsiteY71" fmla="*/ 599643 h 743457"/>
              <a:gd name="connsiteX72" fmla="*/ 5987259 w 9683888"/>
              <a:gd name="connsiteY72" fmla="*/ 601523 h 743457"/>
              <a:gd name="connsiteX73" fmla="*/ 5994905 w 9683888"/>
              <a:gd name="connsiteY73" fmla="*/ 598873 h 743457"/>
              <a:gd name="connsiteX74" fmla="*/ 6054803 w 9683888"/>
              <a:gd name="connsiteY74" fmla="*/ 541202 h 743457"/>
              <a:gd name="connsiteX75" fmla="*/ 6188672 w 9683888"/>
              <a:gd name="connsiteY75" fmla="*/ 496389 h 743457"/>
              <a:gd name="connsiteX76" fmla="*/ 6323280 w 9683888"/>
              <a:gd name="connsiteY76" fmla="*/ 458013 h 743457"/>
              <a:gd name="connsiteX77" fmla="*/ 6457257 w 9683888"/>
              <a:gd name="connsiteY77" fmla="*/ 414621 h 743457"/>
              <a:gd name="connsiteX78" fmla="*/ 6530019 w 9683888"/>
              <a:gd name="connsiteY78" fmla="*/ 423168 h 743457"/>
              <a:gd name="connsiteX79" fmla="*/ 6626800 w 9683888"/>
              <a:gd name="connsiteY79" fmla="*/ 375078 h 743457"/>
              <a:gd name="connsiteX80" fmla="*/ 6689231 w 9683888"/>
              <a:gd name="connsiteY80" fmla="*/ 353501 h 743457"/>
              <a:gd name="connsiteX81" fmla="*/ 6726440 w 9683888"/>
              <a:gd name="connsiteY81" fmla="*/ 340276 h 743457"/>
              <a:gd name="connsiteX82" fmla="*/ 6835228 w 9683888"/>
              <a:gd name="connsiteY82" fmla="*/ 329393 h 743457"/>
              <a:gd name="connsiteX83" fmla="*/ 7039363 w 9683888"/>
              <a:gd name="connsiteY83" fmla="*/ 370823 h 743457"/>
              <a:gd name="connsiteX84" fmla="*/ 7095156 w 9683888"/>
              <a:gd name="connsiteY84" fmla="*/ 366075 h 743457"/>
              <a:gd name="connsiteX85" fmla="*/ 7187061 w 9683888"/>
              <a:gd name="connsiteY85" fmla="*/ 383876 h 743457"/>
              <a:gd name="connsiteX86" fmla="*/ 7295039 w 9683888"/>
              <a:gd name="connsiteY86" fmla="*/ 355046 h 743457"/>
              <a:gd name="connsiteX87" fmla="*/ 7373651 w 9683888"/>
              <a:gd name="connsiteY87" fmla="*/ 322299 h 743457"/>
              <a:gd name="connsiteX88" fmla="*/ 7418964 w 9683888"/>
              <a:gd name="connsiteY88" fmla="*/ 308685 h 743457"/>
              <a:gd name="connsiteX89" fmla="*/ 7450568 w 9683888"/>
              <a:gd name="connsiteY89" fmla="*/ 293511 h 743457"/>
              <a:gd name="connsiteX90" fmla="*/ 7538380 w 9683888"/>
              <a:gd name="connsiteY90" fmla="*/ 283235 h 743457"/>
              <a:gd name="connsiteX91" fmla="*/ 7786348 w 9683888"/>
              <a:gd name="connsiteY91" fmla="*/ 225377 h 743457"/>
              <a:gd name="connsiteX92" fmla="*/ 7849534 w 9683888"/>
              <a:gd name="connsiteY92" fmla="*/ 245434 h 743457"/>
              <a:gd name="connsiteX93" fmla="*/ 7981165 w 9683888"/>
              <a:gd name="connsiteY93" fmla="*/ 222252 h 743457"/>
              <a:gd name="connsiteX94" fmla="*/ 8171882 w 9683888"/>
              <a:gd name="connsiteY94" fmla="*/ 222497 h 743457"/>
              <a:gd name="connsiteX95" fmla="*/ 8242270 w 9683888"/>
              <a:gd name="connsiteY95" fmla="*/ 180535 h 743457"/>
              <a:gd name="connsiteX96" fmla="*/ 8490152 w 9683888"/>
              <a:gd name="connsiteY96" fmla="*/ 209193 h 743457"/>
              <a:gd name="connsiteX97" fmla="*/ 8622272 w 9683888"/>
              <a:gd name="connsiteY97" fmla="*/ 188859 h 743457"/>
              <a:gd name="connsiteX98" fmla="*/ 8738606 w 9683888"/>
              <a:gd name="connsiteY98" fmla="*/ 208945 h 743457"/>
              <a:gd name="connsiteX99" fmla="*/ 8831307 w 9683888"/>
              <a:gd name="connsiteY99" fmla="*/ 207738 h 743457"/>
              <a:gd name="connsiteX100" fmla="*/ 8891432 w 9683888"/>
              <a:gd name="connsiteY100" fmla="*/ 184510 h 743457"/>
              <a:gd name="connsiteX101" fmla="*/ 8946980 w 9683888"/>
              <a:gd name="connsiteY101" fmla="*/ 145578 h 743457"/>
              <a:gd name="connsiteX102" fmla="*/ 9107760 w 9683888"/>
              <a:gd name="connsiteY102" fmla="*/ 128052 h 743457"/>
              <a:gd name="connsiteX103" fmla="*/ 9195623 w 9683888"/>
              <a:gd name="connsiteY103" fmla="*/ 100212 h 743457"/>
              <a:gd name="connsiteX104" fmla="*/ 9256898 w 9683888"/>
              <a:gd name="connsiteY104" fmla="*/ 73900 h 743457"/>
              <a:gd name="connsiteX105" fmla="*/ 9351740 w 9683888"/>
              <a:gd name="connsiteY105" fmla="*/ 80439 h 743457"/>
              <a:gd name="connsiteX106" fmla="*/ 9539796 w 9683888"/>
              <a:gd name="connsiteY106" fmla="*/ 87069 h 743457"/>
              <a:gd name="connsiteX107" fmla="*/ 9619109 w 9683888"/>
              <a:gd name="connsiteY107" fmla="*/ 39994 h 743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</a:cxnLst>
            <a:rect l="l" t="t" r="r" b="b"/>
            <a:pathLst>
              <a:path w="9683888" h="743457">
                <a:moveTo>
                  <a:pt x="9683888" y="0"/>
                </a:moveTo>
                <a:lnTo>
                  <a:pt x="0" y="0"/>
                </a:lnTo>
                <a:lnTo>
                  <a:pt x="0" y="365878"/>
                </a:lnTo>
                <a:lnTo>
                  <a:pt x="11844" y="367909"/>
                </a:lnTo>
                <a:cubicBezTo>
                  <a:pt x="50423" y="374387"/>
                  <a:pt x="87879" y="380746"/>
                  <a:pt x="106208" y="385974"/>
                </a:cubicBezTo>
                <a:cubicBezTo>
                  <a:pt x="119919" y="389979"/>
                  <a:pt x="149687" y="402128"/>
                  <a:pt x="183667" y="399162"/>
                </a:cubicBezTo>
                <a:cubicBezTo>
                  <a:pt x="228274" y="394575"/>
                  <a:pt x="256969" y="398315"/>
                  <a:pt x="292430" y="390408"/>
                </a:cubicBezTo>
                <a:cubicBezTo>
                  <a:pt x="325377" y="395694"/>
                  <a:pt x="374510" y="420053"/>
                  <a:pt x="386942" y="395582"/>
                </a:cubicBezTo>
                <a:cubicBezTo>
                  <a:pt x="400429" y="416427"/>
                  <a:pt x="451168" y="399411"/>
                  <a:pt x="485751" y="408404"/>
                </a:cubicBezTo>
                <a:cubicBezTo>
                  <a:pt x="520399" y="423586"/>
                  <a:pt x="570416" y="404235"/>
                  <a:pt x="604107" y="418647"/>
                </a:cubicBezTo>
                <a:cubicBezTo>
                  <a:pt x="633631" y="425521"/>
                  <a:pt x="672063" y="446364"/>
                  <a:pt x="694081" y="449524"/>
                </a:cubicBezTo>
                <a:cubicBezTo>
                  <a:pt x="700528" y="463278"/>
                  <a:pt x="713487" y="450700"/>
                  <a:pt x="762452" y="456090"/>
                </a:cubicBezTo>
                <a:cubicBezTo>
                  <a:pt x="811417" y="461479"/>
                  <a:pt x="935420" y="470466"/>
                  <a:pt x="987872" y="481862"/>
                </a:cubicBezTo>
                <a:cubicBezTo>
                  <a:pt x="1018493" y="475799"/>
                  <a:pt x="1019470" y="516810"/>
                  <a:pt x="1077163" y="524467"/>
                </a:cubicBezTo>
                <a:cubicBezTo>
                  <a:pt x="1124222" y="535807"/>
                  <a:pt x="1202940" y="574855"/>
                  <a:pt x="1258716" y="587975"/>
                </a:cubicBezTo>
                <a:cubicBezTo>
                  <a:pt x="1274181" y="586466"/>
                  <a:pt x="1286859" y="589632"/>
                  <a:pt x="1298056" y="595413"/>
                </a:cubicBezTo>
                <a:lnTo>
                  <a:pt x="1327017" y="617412"/>
                </a:lnTo>
                <a:lnTo>
                  <a:pt x="1347909" y="620209"/>
                </a:lnTo>
                <a:cubicBezTo>
                  <a:pt x="1377004" y="628445"/>
                  <a:pt x="1394712" y="616344"/>
                  <a:pt x="1421792" y="626139"/>
                </a:cubicBezTo>
                <a:cubicBezTo>
                  <a:pt x="1466260" y="647543"/>
                  <a:pt x="1506099" y="610975"/>
                  <a:pt x="1519789" y="645011"/>
                </a:cubicBezTo>
                <a:cubicBezTo>
                  <a:pt x="1556219" y="665699"/>
                  <a:pt x="1578776" y="668950"/>
                  <a:pt x="1620886" y="687715"/>
                </a:cubicBezTo>
                <a:cubicBezTo>
                  <a:pt x="1658228" y="693647"/>
                  <a:pt x="1636224" y="694371"/>
                  <a:pt x="1676745" y="690130"/>
                </a:cubicBezTo>
                <a:cubicBezTo>
                  <a:pt x="1713709" y="697532"/>
                  <a:pt x="1774627" y="701403"/>
                  <a:pt x="1832228" y="690860"/>
                </a:cubicBezTo>
                <a:cubicBezTo>
                  <a:pt x="1866586" y="689181"/>
                  <a:pt x="1949046" y="755765"/>
                  <a:pt x="1980464" y="704858"/>
                </a:cubicBezTo>
                <a:cubicBezTo>
                  <a:pt x="2001472" y="716610"/>
                  <a:pt x="2020758" y="710467"/>
                  <a:pt x="2051150" y="711187"/>
                </a:cubicBezTo>
                <a:cubicBezTo>
                  <a:pt x="2081543" y="711907"/>
                  <a:pt x="2117567" y="736153"/>
                  <a:pt x="2162824" y="709178"/>
                </a:cubicBezTo>
                <a:cubicBezTo>
                  <a:pt x="2219712" y="701824"/>
                  <a:pt x="2181421" y="742368"/>
                  <a:pt x="2259859" y="718188"/>
                </a:cubicBezTo>
                <a:cubicBezTo>
                  <a:pt x="2296623" y="733933"/>
                  <a:pt x="2337412" y="741012"/>
                  <a:pt x="2378290" y="738748"/>
                </a:cubicBezTo>
                <a:cubicBezTo>
                  <a:pt x="2380041" y="725410"/>
                  <a:pt x="2399659" y="741017"/>
                  <a:pt x="2407828" y="743457"/>
                </a:cubicBezTo>
                <a:cubicBezTo>
                  <a:pt x="2406113" y="735180"/>
                  <a:pt x="2421642" y="728742"/>
                  <a:pt x="2428936" y="734697"/>
                </a:cubicBezTo>
                <a:cubicBezTo>
                  <a:pt x="2468648" y="720822"/>
                  <a:pt x="2584275" y="677579"/>
                  <a:pt x="2646106" y="660204"/>
                </a:cubicBezTo>
                <a:cubicBezTo>
                  <a:pt x="2706894" y="652346"/>
                  <a:pt x="2738390" y="612318"/>
                  <a:pt x="2799920" y="630451"/>
                </a:cubicBezTo>
                <a:cubicBezTo>
                  <a:pt x="2856798" y="622940"/>
                  <a:pt x="2902940" y="602232"/>
                  <a:pt x="2953556" y="607173"/>
                </a:cubicBezTo>
                <a:cubicBezTo>
                  <a:pt x="2970626" y="593247"/>
                  <a:pt x="2988095" y="586399"/>
                  <a:pt x="3009839" y="601743"/>
                </a:cubicBezTo>
                <a:cubicBezTo>
                  <a:pt x="3046166" y="594868"/>
                  <a:pt x="3085682" y="586046"/>
                  <a:pt x="3115016" y="584982"/>
                </a:cubicBezTo>
                <a:cubicBezTo>
                  <a:pt x="3144992" y="587935"/>
                  <a:pt x="3158740" y="599045"/>
                  <a:pt x="3185844" y="595356"/>
                </a:cubicBezTo>
                <a:cubicBezTo>
                  <a:pt x="3209939" y="576197"/>
                  <a:pt x="3221731" y="614583"/>
                  <a:pt x="3246013" y="592418"/>
                </a:cubicBezTo>
                <a:cubicBezTo>
                  <a:pt x="3228976" y="565486"/>
                  <a:pt x="3320172" y="599686"/>
                  <a:pt x="3313565" y="574138"/>
                </a:cubicBezTo>
                <a:cubicBezTo>
                  <a:pt x="3341586" y="564515"/>
                  <a:pt x="3371901" y="555346"/>
                  <a:pt x="3414143" y="553730"/>
                </a:cubicBezTo>
                <a:cubicBezTo>
                  <a:pt x="3463229" y="557630"/>
                  <a:pt x="3476532" y="539673"/>
                  <a:pt x="3552895" y="548563"/>
                </a:cubicBezTo>
                <a:cubicBezTo>
                  <a:pt x="3620356" y="561042"/>
                  <a:pt x="3688830" y="574962"/>
                  <a:pt x="3753012" y="599520"/>
                </a:cubicBezTo>
                <a:cubicBezTo>
                  <a:pt x="3769580" y="615048"/>
                  <a:pt x="3777112" y="602961"/>
                  <a:pt x="3804392" y="604131"/>
                </a:cubicBezTo>
                <a:cubicBezTo>
                  <a:pt x="3831672" y="605301"/>
                  <a:pt x="3878076" y="605222"/>
                  <a:pt x="3916696" y="606540"/>
                </a:cubicBezTo>
                <a:cubicBezTo>
                  <a:pt x="3970533" y="603881"/>
                  <a:pt x="3981244" y="618066"/>
                  <a:pt x="4063849" y="604058"/>
                </a:cubicBezTo>
                <a:cubicBezTo>
                  <a:pt x="4074473" y="605185"/>
                  <a:pt x="4134611" y="589365"/>
                  <a:pt x="4172179" y="592355"/>
                </a:cubicBezTo>
                <a:cubicBezTo>
                  <a:pt x="4180554" y="576172"/>
                  <a:pt x="4255433" y="602075"/>
                  <a:pt x="4276294" y="587119"/>
                </a:cubicBezTo>
                <a:cubicBezTo>
                  <a:pt x="4326119" y="586973"/>
                  <a:pt x="4361692" y="573867"/>
                  <a:pt x="4411090" y="575600"/>
                </a:cubicBezTo>
                <a:cubicBezTo>
                  <a:pt x="4465125" y="575500"/>
                  <a:pt x="4518088" y="570805"/>
                  <a:pt x="4540465" y="567464"/>
                </a:cubicBezTo>
                <a:lnTo>
                  <a:pt x="4545352" y="555554"/>
                </a:lnTo>
                <a:lnTo>
                  <a:pt x="4564014" y="553660"/>
                </a:lnTo>
                <a:lnTo>
                  <a:pt x="4568602" y="550913"/>
                </a:lnTo>
                <a:cubicBezTo>
                  <a:pt x="4577353" y="545618"/>
                  <a:pt x="4586105" y="540734"/>
                  <a:pt x="4595289" y="537407"/>
                </a:cubicBezTo>
                <a:cubicBezTo>
                  <a:pt x="4623104" y="537511"/>
                  <a:pt x="4660764" y="533229"/>
                  <a:pt x="4739026" y="532483"/>
                </a:cubicBezTo>
                <a:cubicBezTo>
                  <a:pt x="4806238" y="527255"/>
                  <a:pt x="4944577" y="524439"/>
                  <a:pt x="5061335" y="545635"/>
                </a:cubicBezTo>
                <a:cubicBezTo>
                  <a:pt x="5167156" y="553533"/>
                  <a:pt x="5251789" y="586167"/>
                  <a:pt x="5338634" y="595754"/>
                </a:cubicBezTo>
                <a:cubicBezTo>
                  <a:pt x="5415763" y="589622"/>
                  <a:pt x="5434719" y="609365"/>
                  <a:pt x="5529430" y="606335"/>
                </a:cubicBezTo>
                <a:cubicBezTo>
                  <a:pt x="5534498" y="613561"/>
                  <a:pt x="5597157" y="603269"/>
                  <a:pt x="5604039" y="607676"/>
                </a:cubicBezTo>
                <a:lnTo>
                  <a:pt x="5625281" y="617253"/>
                </a:lnTo>
                <a:lnTo>
                  <a:pt x="5628138" y="615483"/>
                </a:lnTo>
                <a:cubicBezTo>
                  <a:pt x="5640641" y="612245"/>
                  <a:pt x="5648217" y="613966"/>
                  <a:pt x="5653593" y="617873"/>
                </a:cubicBezTo>
                <a:lnTo>
                  <a:pt x="5658658" y="624279"/>
                </a:lnTo>
                <a:lnTo>
                  <a:pt x="5675963" y="627762"/>
                </a:lnTo>
                <a:lnTo>
                  <a:pt x="5709625" y="639593"/>
                </a:lnTo>
                <a:lnTo>
                  <a:pt x="5716324" y="637148"/>
                </a:lnTo>
                <a:lnTo>
                  <a:pt x="5767720" y="647737"/>
                </a:lnTo>
                <a:lnTo>
                  <a:pt x="5768619" y="645671"/>
                </a:lnTo>
                <a:cubicBezTo>
                  <a:pt x="5776130" y="642927"/>
                  <a:pt x="5830922" y="636226"/>
                  <a:pt x="5858696" y="628099"/>
                </a:cubicBezTo>
                <a:lnTo>
                  <a:pt x="5935260" y="596904"/>
                </a:lnTo>
                <a:lnTo>
                  <a:pt x="5946176" y="597874"/>
                </a:lnTo>
                <a:lnTo>
                  <a:pt x="5946447" y="597396"/>
                </a:lnTo>
                <a:cubicBezTo>
                  <a:pt x="5948934" y="596546"/>
                  <a:pt x="5952567" y="596468"/>
                  <a:pt x="5958069" y="597432"/>
                </a:cubicBezTo>
                <a:lnTo>
                  <a:pt x="5966081" y="599643"/>
                </a:lnTo>
                <a:lnTo>
                  <a:pt x="5987259" y="601523"/>
                </a:lnTo>
                <a:lnTo>
                  <a:pt x="5994905" y="598873"/>
                </a:lnTo>
                <a:cubicBezTo>
                  <a:pt x="6020610" y="579716"/>
                  <a:pt x="6016968" y="560235"/>
                  <a:pt x="6054803" y="541202"/>
                </a:cubicBezTo>
                <a:cubicBezTo>
                  <a:pt x="6108247" y="527358"/>
                  <a:pt x="6130976" y="484538"/>
                  <a:pt x="6188672" y="496389"/>
                </a:cubicBezTo>
                <a:cubicBezTo>
                  <a:pt x="6238659" y="483279"/>
                  <a:pt x="6277194" y="458153"/>
                  <a:pt x="6323280" y="458013"/>
                </a:cubicBezTo>
                <a:cubicBezTo>
                  <a:pt x="6368044" y="444385"/>
                  <a:pt x="6422801" y="420428"/>
                  <a:pt x="6457257" y="414621"/>
                </a:cubicBezTo>
                <a:cubicBezTo>
                  <a:pt x="6483424" y="410645"/>
                  <a:pt x="6508964" y="423228"/>
                  <a:pt x="6530019" y="423168"/>
                </a:cubicBezTo>
                <a:cubicBezTo>
                  <a:pt x="6558276" y="416578"/>
                  <a:pt x="6600264" y="386690"/>
                  <a:pt x="6626800" y="375078"/>
                </a:cubicBezTo>
                <a:cubicBezTo>
                  <a:pt x="6664418" y="400828"/>
                  <a:pt x="6655535" y="354302"/>
                  <a:pt x="6689231" y="353501"/>
                </a:cubicBezTo>
                <a:cubicBezTo>
                  <a:pt x="6708837" y="361122"/>
                  <a:pt x="6719642" y="359485"/>
                  <a:pt x="6726440" y="340276"/>
                </a:cubicBezTo>
                <a:cubicBezTo>
                  <a:pt x="6818329" y="378763"/>
                  <a:pt x="6765502" y="328183"/>
                  <a:pt x="6835228" y="329393"/>
                </a:cubicBezTo>
                <a:cubicBezTo>
                  <a:pt x="6897464" y="335048"/>
                  <a:pt x="6962224" y="329085"/>
                  <a:pt x="7039363" y="370823"/>
                </a:cubicBezTo>
                <a:cubicBezTo>
                  <a:pt x="7056368" y="384567"/>
                  <a:pt x="7070539" y="363899"/>
                  <a:pt x="7095156" y="366075"/>
                </a:cubicBezTo>
                <a:cubicBezTo>
                  <a:pt x="7119772" y="368250"/>
                  <a:pt x="7153748" y="385714"/>
                  <a:pt x="7187061" y="383876"/>
                </a:cubicBezTo>
                <a:cubicBezTo>
                  <a:pt x="7242115" y="377604"/>
                  <a:pt x="7270954" y="334249"/>
                  <a:pt x="7295039" y="355046"/>
                </a:cubicBezTo>
                <a:cubicBezTo>
                  <a:pt x="7320104" y="344159"/>
                  <a:pt x="7343179" y="301443"/>
                  <a:pt x="7373651" y="322299"/>
                </a:cubicBezTo>
                <a:cubicBezTo>
                  <a:pt x="7367160" y="298575"/>
                  <a:pt x="7410095" y="329040"/>
                  <a:pt x="7418964" y="308685"/>
                </a:cubicBezTo>
                <a:cubicBezTo>
                  <a:pt x="7424243" y="291807"/>
                  <a:pt x="7438503" y="297117"/>
                  <a:pt x="7450568" y="293511"/>
                </a:cubicBezTo>
                <a:cubicBezTo>
                  <a:pt x="7461276" y="277652"/>
                  <a:pt x="7519437" y="275664"/>
                  <a:pt x="7538380" y="283235"/>
                </a:cubicBezTo>
                <a:cubicBezTo>
                  <a:pt x="7594343" y="271879"/>
                  <a:pt x="7734488" y="231676"/>
                  <a:pt x="7786348" y="225377"/>
                </a:cubicBezTo>
                <a:cubicBezTo>
                  <a:pt x="7797693" y="277094"/>
                  <a:pt x="7847327" y="236176"/>
                  <a:pt x="7849534" y="245434"/>
                </a:cubicBezTo>
                <a:cubicBezTo>
                  <a:pt x="7894253" y="231282"/>
                  <a:pt x="7937937" y="238796"/>
                  <a:pt x="7981165" y="222252"/>
                </a:cubicBezTo>
                <a:cubicBezTo>
                  <a:pt x="8066564" y="234459"/>
                  <a:pt x="8127007" y="235277"/>
                  <a:pt x="8171882" y="222497"/>
                </a:cubicBezTo>
                <a:cubicBezTo>
                  <a:pt x="8183092" y="205785"/>
                  <a:pt x="8217423" y="177145"/>
                  <a:pt x="8242270" y="180535"/>
                </a:cubicBezTo>
                <a:cubicBezTo>
                  <a:pt x="8294138" y="178846"/>
                  <a:pt x="8410926" y="208334"/>
                  <a:pt x="8490152" y="209193"/>
                </a:cubicBezTo>
                <a:cubicBezTo>
                  <a:pt x="8558493" y="195433"/>
                  <a:pt x="8564727" y="233466"/>
                  <a:pt x="8622272" y="188859"/>
                </a:cubicBezTo>
                <a:cubicBezTo>
                  <a:pt x="8659556" y="191317"/>
                  <a:pt x="8666988" y="178214"/>
                  <a:pt x="8738606" y="208945"/>
                </a:cubicBezTo>
                <a:cubicBezTo>
                  <a:pt x="8769507" y="208543"/>
                  <a:pt x="8800406" y="224019"/>
                  <a:pt x="8831307" y="207738"/>
                </a:cubicBezTo>
                <a:cubicBezTo>
                  <a:pt x="8836477" y="191612"/>
                  <a:pt x="8870109" y="182455"/>
                  <a:pt x="8891432" y="184510"/>
                </a:cubicBezTo>
                <a:cubicBezTo>
                  <a:pt x="8876795" y="135260"/>
                  <a:pt x="8938553" y="173381"/>
                  <a:pt x="8946980" y="145578"/>
                </a:cubicBezTo>
                <a:cubicBezTo>
                  <a:pt x="9010957" y="156064"/>
                  <a:pt x="9046552" y="157746"/>
                  <a:pt x="9107760" y="128052"/>
                </a:cubicBezTo>
                <a:cubicBezTo>
                  <a:pt x="9135191" y="151813"/>
                  <a:pt x="9184204" y="114911"/>
                  <a:pt x="9195623" y="100212"/>
                </a:cubicBezTo>
                <a:cubicBezTo>
                  <a:pt x="9222736" y="85917"/>
                  <a:pt x="9230892" y="98248"/>
                  <a:pt x="9256898" y="73900"/>
                </a:cubicBezTo>
                <a:cubicBezTo>
                  <a:pt x="9276443" y="63724"/>
                  <a:pt x="9334001" y="80454"/>
                  <a:pt x="9351740" y="80439"/>
                </a:cubicBezTo>
                <a:cubicBezTo>
                  <a:pt x="9398889" y="82633"/>
                  <a:pt x="9473718" y="102566"/>
                  <a:pt x="9539796" y="87069"/>
                </a:cubicBezTo>
                <a:cubicBezTo>
                  <a:pt x="9565852" y="70987"/>
                  <a:pt x="9591569" y="56211"/>
                  <a:pt x="9619109" y="39994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C6DA2-5C1B-494F-7ADF-BD821538C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5" y="2194102"/>
            <a:ext cx="6260052" cy="32308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400" dirty="0"/>
              <a:t>Frequency of downtime directly correlates with total time spent in downtime.</a:t>
            </a:r>
          </a:p>
          <a:p>
            <a:pPr marL="0" indent="0">
              <a:buNone/>
            </a:pPr>
            <a:endParaRPr lang="en-GB" sz="1700" dirty="0"/>
          </a:p>
          <a:p>
            <a:pPr marL="0" indent="0">
              <a:buNone/>
            </a:pPr>
            <a:r>
              <a:rPr lang="en-GB" sz="1800" b="1" dirty="0"/>
              <a:t>Primary Causes of Lost Time</a:t>
            </a:r>
          </a:p>
          <a:p>
            <a:pPr marL="0" indent="0">
              <a:buNone/>
            </a:pPr>
            <a:r>
              <a:rPr lang="en-GB" sz="1400" dirty="0"/>
              <a:t>Cleaning/sanitation cycle, Raw material shortage, Scheduling/coordination delay.</a:t>
            </a:r>
          </a:p>
          <a:p>
            <a:pPr marL="0" indent="0">
              <a:buNone/>
            </a:pPr>
            <a:endParaRPr lang="en-GB" sz="1700" dirty="0"/>
          </a:p>
          <a:p>
            <a:pPr marL="0" indent="0">
              <a:buNone/>
            </a:pPr>
            <a:r>
              <a:rPr lang="en-GB" sz="1800" b="1" dirty="0"/>
              <a:t>Operators with Most Time Wasted</a:t>
            </a:r>
          </a:p>
          <a:p>
            <a:pPr marL="0" indent="0">
              <a:buNone/>
            </a:pPr>
            <a:r>
              <a:rPr lang="en-GB" sz="1400" dirty="0"/>
              <a:t>Paul, James, and Emily experienced the most time wasted due to downtimes. </a:t>
            </a:r>
          </a:p>
          <a:p>
            <a:pPr marL="0" indent="0">
              <a:buNone/>
            </a:pPr>
            <a:endParaRPr lang="en-GB" sz="17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3BD3BB9-3CB5-4253-A27D-6B7904723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9827"/>
            <a:ext cx="10680562" cy="1078174"/>
          </a:xfrm>
          <a:custGeom>
            <a:avLst/>
            <a:gdLst>
              <a:gd name="connsiteX0" fmla="*/ 3617689 w 10680562"/>
              <a:gd name="connsiteY0" fmla="*/ 0 h 1605023"/>
              <a:gd name="connsiteX1" fmla="*/ 3635901 w 10680562"/>
              <a:gd name="connsiteY1" fmla="*/ 7738 h 1605023"/>
              <a:gd name="connsiteX2" fmla="*/ 3690891 w 10680562"/>
              <a:gd name="connsiteY2" fmla="*/ 7049 h 1605023"/>
              <a:gd name="connsiteX3" fmla="*/ 3832247 w 10680562"/>
              <a:gd name="connsiteY3" fmla="*/ 13937 h 1605023"/>
              <a:gd name="connsiteX4" fmla="*/ 3999111 w 10680562"/>
              <a:gd name="connsiteY4" fmla="*/ 44624 h 1605023"/>
              <a:gd name="connsiteX5" fmla="*/ 4034676 w 10680562"/>
              <a:gd name="connsiteY5" fmla="*/ 48775 h 1605023"/>
              <a:gd name="connsiteX6" fmla="*/ 4065394 w 10680562"/>
              <a:gd name="connsiteY6" fmla="*/ 42879 h 1605023"/>
              <a:gd name="connsiteX7" fmla="*/ 4072648 w 10680562"/>
              <a:gd name="connsiteY7" fmla="*/ 33262 h 1605023"/>
              <a:gd name="connsiteX8" fmla="*/ 4092232 w 10680562"/>
              <a:gd name="connsiteY8" fmla="*/ 34026 h 1605023"/>
              <a:gd name="connsiteX9" fmla="*/ 4097470 w 10680562"/>
              <a:gd name="connsiteY9" fmla="*/ 32252 h 1605023"/>
              <a:gd name="connsiteX10" fmla="*/ 4127488 w 10680562"/>
              <a:gd name="connsiteY10" fmla="*/ 24056 h 1605023"/>
              <a:gd name="connsiteX11" fmla="*/ 4190803 w 10680562"/>
              <a:gd name="connsiteY11" fmla="*/ 55685 h 1605023"/>
              <a:gd name="connsiteX12" fmla="*/ 4269333 w 10680562"/>
              <a:gd name="connsiteY12" fmla="*/ 54186 h 1605023"/>
              <a:gd name="connsiteX13" fmla="*/ 4481486 w 10680562"/>
              <a:gd name="connsiteY13" fmla="*/ 116915 h 1605023"/>
              <a:gd name="connsiteX14" fmla="*/ 4651418 w 10680562"/>
              <a:gd name="connsiteY14" fmla="*/ 150071 h 1605023"/>
              <a:gd name="connsiteX15" fmla="*/ 4863575 w 10680562"/>
              <a:gd name="connsiteY15" fmla="*/ 175458 h 1605023"/>
              <a:gd name="connsiteX16" fmla="*/ 5013635 w 10680562"/>
              <a:gd name="connsiteY16" fmla="*/ 213928 h 1605023"/>
              <a:gd name="connsiteX17" fmla="*/ 5203044 w 10680562"/>
              <a:gd name="connsiteY17" fmla="*/ 228946 h 1605023"/>
              <a:gd name="connsiteX18" fmla="*/ 5207070 w 10680562"/>
              <a:gd name="connsiteY18" fmla="*/ 235105 h 1605023"/>
              <a:gd name="connsiteX19" fmla="*/ 5224253 w 10680562"/>
              <a:gd name="connsiteY19" fmla="*/ 240320 h 1605023"/>
              <a:gd name="connsiteX20" fmla="*/ 5256736 w 10680562"/>
              <a:gd name="connsiteY20" fmla="*/ 254811 h 1605023"/>
              <a:gd name="connsiteX21" fmla="*/ 5264095 w 10680562"/>
              <a:gd name="connsiteY21" fmla="*/ 253567 h 1605023"/>
              <a:gd name="connsiteX22" fmla="*/ 5315084 w 10680562"/>
              <a:gd name="connsiteY22" fmla="*/ 269264 h 1605023"/>
              <a:gd name="connsiteX23" fmla="*/ 5316393 w 10680562"/>
              <a:gd name="connsiteY23" fmla="*/ 267603 h 1605023"/>
              <a:gd name="connsiteX24" fmla="*/ 5333427 w 10680562"/>
              <a:gd name="connsiteY24" fmla="*/ 263823 h 1605023"/>
              <a:gd name="connsiteX25" fmla="*/ 5364589 w 10680562"/>
              <a:gd name="connsiteY25" fmla="*/ 260882 h 1605023"/>
              <a:gd name="connsiteX26" fmla="*/ 5443973 w 10680562"/>
              <a:gd name="connsiteY26" fmla="*/ 230866 h 1605023"/>
              <a:gd name="connsiteX27" fmla="*/ 5497201 w 10680562"/>
              <a:gd name="connsiteY27" fmla="*/ 247023 h 1605023"/>
              <a:gd name="connsiteX28" fmla="*/ 5508269 w 10680562"/>
              <a:gd name="connsiteY28" fmla="*/ 249256 h 1605023"/>
              <a:gd name="connsiteX29" fmla="*/ 5508636 w 10680562"/>
              <a:gd name="connsiteY29" fmla="*/ 248880 h 1605023"/>
              <a:gd name="connsiteX30" fmla="*/ 5520606 w 10680562"/>
              <a:gd name="connsiteY30" fmla="*/ 250400 h 1605023"/>
              <a:gd name="connsiteX31" fmla="*/ 5528451 w 10680562"/>
              <a:gd name="connsiteY31" fmla="*/ 253330 h 1605023"/>
              <a:gd name="connsiteX32" fmla="*/ 5549923 w 10680562"/>
              <a:gd name="connsiteY32" fmla="*/ 257662 h 1605023"/>
              <a:gd name="connsiteX33" fmla="*/ 5558295 w 10680562"/>
              <a:gd name="connsiteY33" fmla="*/ 256364 h 1605023"/>
              <a:gd name="connsiteX34" fmla="*/ 5664799 w 10680562"/>
              <a:gd name="connsiteY34" fmla="*/ 278924 h 1605023"/>
              <a:gd name="connsiteX35" fmla="*/ 5796160 w 10680562"/>
              <a:gd name="connsiteY35" fmla="*/ 307979 h 1605023"/>
              <a:gd name="connsiteX36" fmla="*/ 5897647 w 10680562"/>
              <a:gd name="connsiteY36" fmla="*/ 339431 h 1605023"/>
              <a:gd name="connsiteX37" fmla="*/ 5978838 w 10680562"/>
              <a:gd name="connsiteY37" fmla="*/ 367970 h 1605023"/>
              <a:gd name="connsiteX38" fmla="*/ 6050367 w 10680562"/>
              <a:gd name="connsiteY38" fmla="*/ 386341 h 1605023"/>
              <a:gd name="connsiteX39" fmla="*/ 6140609 w 10680562"/>
              <a:gd name="connsiteY39" fmla="*/ 385135 h 1605023"/>
              <a:gd name="connsiteX40" fmla="*/ 6302950 w 10680562"/>
              <a:gd name="connsiteY40" fmla="*/ 448183 h 1605023"/>
              <a:gd name="connsiteX41" fmla="*/ 6308533 w 10680562"/>
              <a:gd name="connsiteY41" fmla="*/ 448551 h 1605023"/>
              <a:gd name="connsiteX42" fmla="*/ 6340278 w 10680562"/>
              <a:gd name="connsiteY42" fmla="*/ 468555 h 1605023"/>
              <a:gd name="connsiteX43" fmla="*/ 6341685 w 10680562"/>
              <a:gd name="connsiteY43" fmla="*/ 467587 h 1605023"/>
              <a:gd name="connsiteX44" fmla="*/ 6354862 w 10680562"/>
              <a:gd name="connsiteY44" fmla="*/ 467794 h 1605023"/>
              <a:gd name="connsiteX45" fmla="*/ 6377840 w 10680562"/>
              <a:gd name="connsiteY45" fmla="*/ 471024 h 1605023"/>
              <a:gd name="connsiteX46" fmla="*/ 6442804 w 10680562"/>
              <a:gd name="connsiteY46" fmla="*/ 463091 h 1605023"/>
              <a:gd name="connsiteX47" fmla="*/ 6476009 w 10680562"/>
              <a:gd name="connsiteY47" fmla="*/ 483807 h 1605023"/>
              <a:gd name="connsiteX48" fmla="*/ 6483237 w 10680562"/>
              <a:gd name="connsiteY48" fmla="*/ 487308 h 1605023"/>
              <a:gd name="connsiteX49" fmla="*/ 6483605 w 10680562"/>
              <a:gd name="connsiteY49" fmla="*/ 487102 h 1605023"/>
              <a:gd name="connsiteX50" fmla="*/ 6491673 w 10680562"/>
              <a:gd name="connsiteY50" fmla="*/ 490243 h 1605023"/>
              <a:gd name="connsiteX51" fmla="*/ 6496411 w 10680562"/>
              <a:gd name="connsiteY51" fmla="*/ 493689 h 1605023"/>
              <a:gd name="connsiteX52" fmla="*/ 6510429 w 10680562"/>
              <a:gd name="connsiteY52" fmla="*/ 500479 h 1605023"/>
              <a:gd name="connsiteX53" fmla="*/ 6516750 w 10680562"/>
              <a:gd name="connsiteY53" fmla="*/ 500983 h 1605023"/>
              <a:gd name="connsiteX54" fmla="*/ 6580199 w 10680562"/>
              <a:gd name="connsiteY54" fmla="*/ 483318 h 1605023"/>
              <a:gd name="connsiteX55" fmla="*/ 6690237 w 10680562"/>
              <a:gd name="connsiteY55" fmla="*/ 493051 h 1605023"/>
              <a:gd name="connsiteX56" fmla="*/ 6798356 w 10680562"/>
              <a:gd name="connsiteY56" fmla="*/ 506748 h 1605023"/>
              <a:gd name="connsiteX57" fmla="*/ 6837102 w 10680562"/>
              <a:gd name="connsiteY57" fmla="*/ 513677 h 1605023"/>
              <a:gd name="connsiteX58" fmla="*/ 6907934 w 10680562"/>
              <a:gd name="connsiteY58" fmla="*/ 517339 h 1605023"/>
              <a:gd name="connsiteX59" fmla="*/ 6941474 w 10680562"/>
              <a:gd name="connsiteY59" fmla="*/ 513632 h 1605023"/>
              <a:gd name="connsiteX60" fmla="*/ 6942754 w 10680562"/>
              <a:gd name="connsiteY60" fmla="*/ 514394 h 1605023"/>
              <a:gd name="connsiteX61" fmla="*/ 6946363 w 10680562"/>
              <a:gd name="connsiteY61" fmla="*/ 511066 h 1605023"/>
              <a:gd name="connsiteX62" fmla="*/ 6952592 w 10680562"/>
              <a:gd name="connsiteY62" fmla="*/ 510252 h 1605023"/>
              <a:gd name="connsiteX63" fmla="*/ 6968398 w 10680562"/>
              <a:gd name="connsiteY63" fmla="*/ 513946 h 1605023"/>
              <a:gd name="connsiteX64" fmla="*/ 6974142 w 10680562"/>
              <a:gd name="connsiteY64" fmla="*/ 516310 h 1605023"/>
              <a:gd name="connsiteX65" fmla="*/ 6982971 w 10680562"/>
              <a:gd name="connsiteY65" fmla="*/ 517694 h 1605023"/>
              <a:gd name="connsiteX66" fmla="*/ 6983252 w 10680562"/>
              <a:gd name="connsiteY66" fmla="*/ 517416 h 1605023"/>
              <a:gd name="connsiteX67" fmla="*/ 6991400 w 10680562"/>
              <a:gd name="connsiteY67" fmla="*/ 519321 h 1605023"/>
              <a:gd name="connsiteX68" fmla="*/ 7030460 w 10680562"/>
              <a:gd name="connsiteY68" fmla="*/ 532556 h 1605023"/>
              <a:gd name="connsiteX69" fmla="*/ 7089916 w 10680562"/>
              <a:gd name="connsiteY69" fmla="*/ 511503 h 1605023"/>
              <a:gd name="connsiteX70" fmla="*/ 7113059 w 10680562"/>
              <a:gd name="connsiteY70" fmla="*/ 509904 h 1605023"/>
              <a:gd name="connsiteX71" fmla="*/ 7125755 w 10680562"/>
              <a:gd name="connsiteY71" fmla="*/ 507393 h 1605023"/>
              <a:gd name="connsiteX72" fmla="*/ 7126765 w 10680562"/>
              <a:gd name="connsiteY72" fmla="*/ 506166 h 1605023"/>
              <a:gd name="connsiteX73" fmla="*/ 7164175 w 10680562"/>
              <a:gd name="connsiteY73" fmla="*/ 519011 h 1605023"/>
              <a:gd name="connsiteX74" fmla="*/ 7169654 w 10680562"/>
              <a:gd name="connsiteY74" fmla="*/ 518219 h 1605023"/>
              <a:gd name="connsiteX75" fmla="*/ 7193386 w 10680562"/>
              <a:gd name="connsiteY75" fmla="*/ 529788 h 1605023"/>
              <a:gd name="connsiteX76" fmla="*/ 7205997 w 10680562"/>
              <a:gd name="connsiteY76" fmla="*/ 534060 h 1605023"/>
              <a:gd name="connsiteX77" fmla="*/ 7208842 w 10680562"/>
              <a:gd name="connsiteY77" fmla="*/ 538783 h 1605023"/>
              <a:gd name="connsiteX78" fmla="*/ 7227817 w 10680562"/>
              <a:gd name="connsiteY78" fmla="*/ 543304 h 1605023"/>
              <a:gd name="connsiteX79" fmla="*/ 7230267 w 10680562"/>
              <a:gd name="connsiteY79" fmla="*/ 542497 h 1605023"/>
              <a:gd name="connsiteX80" fmla="*/ 7244913 w 10680562"/>
              <a:gd name="connsiteY80" fmla="*/ 551160 h 1605023"/>
              <a:gd name="connsiteX81" fmla="*/ 7255970 w 10680562"/>
              <a:gd name="connsiteY81" fmla="*/ 564383 h 1605023"/>
              <a:gd name="connsiteX82" fmla="*/ 7421156 w 10680562"/>
              <a:gd name="connsiteY82" fmla="*/ 584155 h 1605023"/>
              <a:gd name="connsiteX83" fmla="*/ 7553166 w 10680562"/>
              <a:gd name="connsiteY83" fmla="*/ 653085 h 1605023"/>
              <a:gd name="connsiteX84" fmla="*/ 7643092 w 10680562"/>
              <a:gd name="connsiteY84" fmla="*/ 662482 h 1605023"/>
              <a:gd name="connsiteX85" fmla="*/ 7896429 w 10680562"/>
              <a:gd name="connsiteY85" fmla="*/ 689054 h 1605023"/>
              <a:gd name="connsiteX86" fmla="*/ 7954620 w 10680562"/>
              <a:gd name="connsiteY86" fmla="*/ 689481 h 1605023"/>
              <a:gd name="connsiteX87" fmla="*/ 8000803 w 10680562"/>
              <a:gd name="connsiteY87" fmla="*/ 714583 h 1605023"/>
              <a:gd name="connsiteX88" fmla="*/ 8023216 w 10680562"/>
              <a:gd name="connsiteY88" fmla="*/ 709000 h 1605023"/>
              <a:gd name="connsiteX89" fmla="*/ 8027136 w 10680562"/>
              <a:gd name="connsiteY89" fmla="*/ 707765 h 1605023"/>
              <a:gd name="connsiteX90" fmla="*/ 8041622 w 10680562"/>
              <a:gd name="connsiteY90" fmla="*/ 708731 h 1605023"/>
              <a:gd name="connsiteX91" fmla="*/ 8047209 w 10680562"/>
              <a:gd name="connsiteY91" fmla="*/ 701624 h 1605023"/>
              <a:gd name="connsiteX92" fmla="*/ 8070088 w 10680562"/>
              <a:gd name="connsiteY92" fmla="*/ 697789 h 1605023"/>
              <a:gd name="connsiteX93" fmla="*/ 8096332 w 10680562"/>
              <a:gd name="connsiteY93" fmla="*/ 701624 h 1605023"/>
              <a:gd name="connsiteX94" fmla="*/ 8219225 w 10680562"/>
              <a:gd name="connsiteY94" fmla="*/ 728069 h 1605023"/>
              <a:gd name="connsiteX95" fmla="*/ 8293793 w 10680562"/>
              <a:gd name="connsiteY95" fmla="*/ 739200 h 1605023"/>
              <a:gd name="connsiteX96" fmla="*/ 8323753 w 10680562"/>
              <a:gd name="connsiteY96" fmla="*/ 736063 h 1605023"/>
              <a:gd name="connsiteX97" fmla="*/ 8364496 w 10680562"/>
              <a:gd name="connsiteY97" fmla="*/ 736635 h 1605023"/>
              <a:gd name="connsiteX98" fmla="*/ 8437662 w 10680562"/>
              <a:gd name="connsiteY98" fmla="*/ 731942 h 1605023"/>
              <a:gd name="connsiteX99" fmla="*/ 8533764 w 10680562"/>
              <a:gd name="connsiteY99" fmla="*/ 735554 h 1605023"/>
              <a:gd name="connsiteX100" fmla="*/ 8596769 w 10680562"/>
              <a:gd name="connsiteY100" fmla="*/ 769632 h 1605023"/>
              <a:gd name="connsiteX101" fmla="*/ 8604035 w 10680562"/>
              <a:gd name="connsiteY101" fmla="*/ 764982 h 1605023"/>
              <a:gd name="connsiteX102" fmla="*/ 8650929 w 10680562"/>
              <a:gd name="connsiteY102" fmla="*/ 773164 h 1605023"/>
              <a:gd name="connsiteX103" fmla="*/ 8806497 w 10680562"/>
              <a:gd name="connsiteY103" fmla="*/ 839707 h 1605023"/>
              <a:gd name="connsiteX104" fmla="*/ 8898377 w 10680562"/>
              <a:gd name="connsiteY104" fmla="*/ 854651 h 1605023"/>
              <a:gd name="connsiteX105" fmla="*/ 8932389 w 10680562"/>
              <a:gd name="connsiteY105" fmla="*/ 853846 h 1605023"/>
              <a:gd name="connsiteX106" fmla="*/ 8989288 w 10680562"/>
              <a:gd name="connsiteY106" fmla="*/ 852877 h 1605023"/>
              <a:gd name="connsiteX107" fmla="*/ 9035275 w 10680562"/>
              <a:gd name="connsiteY107" fmla="*/ 837110 h 1605023"/>
              <a:gd name="connsiteX108" fmla="*/ 9138626 w 10680562"/>
              <a:gd name="connsiteY108" fmla="*/ 862106 h 1605023"/>
              <a:gd name="connsiteX109" fmla="*/ 9216298 w 10680562"/>
              <a:gd name="connsiteY109" fmla="*/ 858754 h 1605023"/>
              <a:gd name="connsiteX110" fmla="*/ 9259941 w 10680562"/>
              <a:gd name="connsiteY110" fmla="*/ 861843 h 1605023"/>
              <a:gd name="connsiteX111" fmla="*/ 9380407 w 10680562"/>
              <a:gd name="connsiteY111" fmla="*/ 864825 h 1605023"/>
              <a:gd name="connsiteX112" fmla="*/ 9490772 w 10680562"/>
              <a:gd name="connsiteY112" fmla="*/ 901190 h 1605023"/>
              <a:gd name="connsiteX113" fmla="*/ 9584982 w 10680562"/>
              <a:gd name="connsiteY113" fmla="*/ 935980 h 1605023"/>
              <a:gd name="connsiteX114" fmla="*/ 9759797 w 10680562"/>
              <a:gd name="connsiteY114" fmla="*/ 1010923 h 1605023"/>
              <a:gd name="connsiteX115" fmla="*/ 9834455 w 10680562"/>
              <a:gd name="connsiteY115" fmla="*/ 1082908 h 1605023"/>
              <a:gd name="connsiteX116" fmla="*/ 9939504 w 10680562"/>
              <a:gd name="connsiteY116" fmla="*/ 1110614 h 1605023"/>
              <a:gd name="connsiteX117" fmla="*/ 10077001 w 10680562"/>
              <a:gd name="connsiteY117" fmla="*/ 1160906 h 1605023"/>
              <a:gd name="connsiteX118" fmla="*/ 10178431 w 10680562"/>
              <a:gd name="connsiteY118" fmla="*/ 1244920 h 1605023"/>
              <a:gd name="connsiteX119" fmla="*/ 10248658 w 10680562"/>
              <a:gd name="connsiteY119" fmla="*/ 1309335 h 1605023"/>
              <a:gd name="connsiteX120" fmla="*/ 10414709 w 10680562"/>
              <a:gd name="connsiteY120" fmla="*/ 1388645 h 1605023"/>
              <a:gd name="connsiteX121" fmla="*/ 10592469 w 10680562"/>
              <a:gd name="connsiteY121" fmla="*/ 1543828 h 1605023"/>
              <a:gd name="connsiteX122" fmla="*/ 10674941 w 10680562"/>
              <a:gd name="connsiteY122" fmla="*/ 1597388 h 1605023"/>
              <a:gd name="connsiteX123" fmla="*/ 10680562 w 10680562"/>
              <a:gd name="connsiteY123" fmla="*/ 1605023 h 1605023"/>
              <a:gd name="connsiteX124" fmla="*/ 0 w 10680562"/>
              <a:gd name="connsiteY124" fmla="*/ 1605023 h 1605023"/>
              <a:gd name="connsiteX125" fmla="*/ 0 w 10680562"/>
              <a:gd name="connsiteY125" fmla="*/ 415048 h 1605023"/>
              <a:gd name="connsiteX126" fmla="*/ 9656 w 10680562"/>
              <a:gd name="connsiteY126" fmla="*/ 416044 h 1605023"/>
              <a:gd name="connsiteX127" fmla="*/ 179196 w 10680562"/>
              <a:gd name="connsiteY127" fmla="*/ 423071 h 1605023"/>
              <a:gd name="connsiteX128" fmla="*/ 250912 w 10680562"/>
              <a:gd name="connsiteY128" fmla="*/ 408617 h 1605023"/>
              <a:gd name="connsiteX129" fmla="*/ 291375 w 10680562"/>
              <a:gd name="connsiteY129" fmla="*/ 403710 h 1605023"/>
              <a:gd name="connsiteX130" fmla="*/ 320542 w 10680562"/>
              <a:gd name="connsiteY130" fmla="*/ 396592 h 1605023"/>
              <a:gd name="connsiteX131" fmla="*/ 522426 w 10680562"/>
              <a:gd name="connsiteY131" fmla="*/ 407158 h 1605023"/>
              <a:gd name="connsiteX132" fmla="*/ 549068 w 10680562"/>
              <a:gd name="connsiteY132" fmla="*/ 407418 h 1605023"/>
              <a:gd name="connsiteX133" fmla="*/ 571100 w 10680562"/>
              <a:gd name="connsiteY133" fmla="*/ 400562 h 1605023"/>
              <a:gd name="connsiteX134" fmla="*/ 575457 w 10680562"/>
              <a:gd name="connsiteY134" fmla="*/ 392801 h 1605023"/>
              <a:gd name="connsiteX135" fmla="*/ 589968 w 10680562"/>
              <a:gd name="connsiteY135" fmla="*/ 391807 h 1605023"/>
              <a:gd name="connsiteX136" fmla="*/ 593649 w 10680562"/>
              <a:gd name="connsiteY136" fmla="*/ 390062 h 1605023"/>
              <a:gd name="connsiteX137" fmla="*/ 614928 w 10680562"/>
              <a:gd name="connsiteY137" fmla="*/ 381544 h 1605023"/>
              <a:gd name="connsiteX138" fmla="*/ 722580 w 10680562"/>
              <a:gd name="connsiteY138" fmla="*/ 392722 h 1605023"/>
              <a:gd name="connsiteX139" fmla="*/ 946884 w 10680562"/>
              <a:gd name="connsiteY139" fmla="*/ 411854 h 1605023"/>
              <a:gd name="connsiteX140" fmla="*/ 1210905 w 10680562"/>
              <a:gd name="connsiteY140" fmla="*/ 432414 h 1605023"/>
              <a:gd name="connsiteX141" fmla="*/ 1377854 w 10680562"/>
              <a:gd name="connsiteY141" fmla="*/ 429745 h 1605023"/>
              <a:gd name="connsiteX142" fmla="*/ 1391004 w 10680562"/>
              <a:gd name="connsiteY142" fmla="*/ 441307 h 1605023"/>
              <a:gd name="connsiteX143" fmla="*/ 1406953 w 10680562"/>
              <a:gd name="connsiteY143" fmla="*/ 447889 h 1605023"/>
              <a:gd name="connsiteX144" fmla="*/ 1409246 w 10680562"/>
              <a:gd name="connsiteY144" fmla="*/ 446765 h 1605023"/>
              <a:gd name="connsiteX145" fmla="*/ 1428800 w 10680562"/>
              <a:gd name="connsiteY145" fmla="*/ 448677 h 1605023"/>
              <a:gd name="connsiteX146" fmla="*/ 1432402 w 10680562"/>
              <a:gd name="connsiteY146" fmla="*/ 452956 h 1605023"/>
              <a:gd name="connsiteX147" fmla="*/ 1606578 w 10680562"/>
              <a:gd name="connsiteY147" fmla="*/ 430870 h 1605023"/>
              <a:gd name="connsiteX148" fmla="*/ 1647476 w 10680562"/>
              <a:gd name="connsiteY148" fmla="*/ 438687 h 1605023"/>
              <a:gd name="connsiteX149" fmla="*/ 1655866 w 10680562"/>
              <a:gd name="connsiteY149" fmla="*/ 439472 h 1605023"/>
              <a:gd name="connsiteX150" fmla="*/ 1656096 w 10680562"/>
              <a:gd name="connsiteY150" fmla="*/ 439162 h 1605023"/>
              <a:gd name="connsiteX151" fmla="*/ 1670708 w 10680562"/>
              <a:gd name="connsiteY151" fmla="*/ 412530 h 1605023"/>
              <a:gd name="connsiteX152" fmla="*/ 1737953 w 10680562"/>
              <a:gd name="connsiteY152" fmla="*/ 399496 h 1605023"/>
              <a:gd name="connsiteX153" fmla="*/ 1848192 w 10680562"/>
              <a:gd name="connsiteY153" fmla="*/ 376032 h 1605023"/>
              <a:gd name="connsiteX154" fmla="*/ 1954077 w 10680562"/>
              <a:gd name="connsiteY154" fmla="*/ 352621 h 1605023"/>
              <a:gd name="connsiteX155" fmla="*/ 1993047 w 10680562"/>
              <a:gd name="connsiteY155" fmla="*/ 346068 h 1605023"/>
              <a:gd name="connsiteX156" fmla="*/ 2059719 w 10680562"/>
              <a:gd name="connsiteY156" fmla="*/ 325903 h 1605023"/>
              <a:gd name="connsiteX157" fmla="*/ 2088528 w 10680562"/>
              <a:gd name="connsiteY157" fmla="*/ 311409 h 1605023"/>
              <a:gd name="connsiteX158" fmla="*/ 2090087 w 10680562"/>
              <a:gd name="connsiteY158" fmla="*/ 311676 h 1605023"/>
              <a:gd name="connsiteX159" fmla="*/ 2091700 w 10680562"/>
              <a:gd name="connsiteY159" fmla="*/ 307455 h 1605023"/>
              <a:gd name="connsiteX160" fmla="*/ 2096989 w 10680562"/>
              <a:gd name="connsiteY160" fmla="*/ 304649 h 1605023"/>
              <a:gd name="connsiteX161" fmla="*/ 2113325 w 10680562"/>
              <a:gd name="connsiteY161" fmla="*/ 302764 h 1605023"/>
              <a:gd name="connsiteX162" fmla="*/ 2119780 w 10680562"/>
              <a:gd name="connsiteY162" fmla="*/ 303007 h 1605023"/>
              <a:gd name="connsiteX163" fmla="*/ 2128562 w 10680562"/>
              <a:gd name="connsiteY163" fmla="*/ 301336 h 1605023"/>
              <a:gd name="connsiteX164" fmla="*/ 2128679 w 10680562"/>
              <a:gd name="connsiteY164" fmla="*/ 300991 h 1605023"/>
              <a:gd name="connsiteX165" fmla="*/ 2179558 w 10680562"/>
              <a:gd name="connsiteY165" fmla="*/ 299095 h 1605023"/>
              <a:gd name="connsiteX166" fmla="*/ 2223277 w 10680562"/>
              <a:gd name="connsiteY166" fmla="*/ 260239 h 1605023"/>
              <a:gd name="connsiteX167" fmla="*/ 2243644 w 10680562"/>
              <a:gd name="connsiteY167" fmla="*/ 251110 h 1605023"/>
              <a:gd name="connsiteX168" fmla="*/ 2253986 w 10680562"/>
              <a:gd name="connsiteY168" fmla="*/ 244616 h 1605023"/>
              <a:gd name="connsiteX169" fmla="*/ 2254285 w 10680562"/>
              <a:gd name="connsiteY169" fmla="*/ 243167 h 1605023"/>
              <a:gd name="connsiteX170" fmla="*/ 2295037 w 10680562"/>
              <a:gd name="connsiteY170" fmla="*/ 242433 h 1605023"/>
              <a:gd name="connsiteX171" fmla="*/ 2299648 w 10680562"/>
              <a:gd name="connsiteY171" fmla="*/ 239896 h 1605023"/>
              <a:gd name="connsiteX172" fmla="*/ 2327237 w 10680562"/>
              <a:gd name="connsiteY172" fmla="*/ 242539 h 1605023"/>
              <a:gd name="connsiteX173" fmla="*/ 2340943 w 10680562"/>
              <a:gd name="connsiteY173" fmla="*/ 242239 h 1605023"/>
              <a:gd name="connsiteX174" fmla="*/ 2345943 w 10680562"/>
              <a:gd name="connsiteY174" fmla="*/ 245589 h 1605023"/>
              <a:gd name="connsiteX175" fmla="*/ 2365602 w 10680562"/>
              <a:gd name="connsiteY175" fmla="*/ 243403 h 1605023"/>
              <a:gd name="connsiteX176" fmla="*/ 2367433 w 10680562"/>
              <a:gd name="connsiteY176" fmla="*/ 241858 h 1605023"/>
              <a:gd name="connsiteX177" fmla="*/ 2385231 w 10680562"/>
              <a:gd name="connsiteY177" fmla="*/ 244873 h 1605023"/>
              <a:gd name="connsiteX178" fmla="*/ 2402059 w 10680562"/>
              <a:gd name="connsiteY178" fmla="*/ 253223 h 1605023"/>
              <a:gd name="connsiteX179" fmla="*/ 2719020 w 10680562"/>
              <a:gd name="connsiteY179" fmla="*/ 235271 h 1605023"/>
              <a:gd name="connsiteX180" fmla="*/ 2877308 w 10680562"/>
              <a:gd name="connsiteY180" fmla="*/ 208630 h 1605023"/>
              <a:gd name="connsiteX181" fmla="*/ 3051375 w 10680562"/>
              <a:gd name="connsiteY181" fmla="*/ 154110 h 1605023"/>
              <a:gd name="connsiteX182" fmla="*/ 3104837 w 10680562"/>
              <a:gd name="connsiteY182" fmla="*/ 135199 h 1605023"/>
              <a:gd name="connsiteX183" fmla="*/ 3159836 w 10680562"/>
              <a:gd name="connsiteY183" fmla="*/ 142694 h 1605023"/>
              <a:gd name="connsiteX184" fmla="*/ 3177510 w 10680562"/>
              <a:gd name="connsiteY184" fmla="*/ 130186 h 1605023"/>
              <a:gd name="connsiteX185" fmla="*/ 3180470 w 10680562"/>
              <a:gd name="connsiteY185" fmla="*/ 127764 h 1605023"/>
              <a:gd name="connsiteX186" fmla="*/ 3194216 w 10680562"/>
              <a:gd name="connsiteY186" fmla="*/ 123837 h 1605023"/>
              <a:gd name="connsiteX187" fmla="*/ 3214710 w 10680562"/>
              <a:gd name="connsiteY187" fmla="*/ 104451 h 1605023"/>
              <a:gd name="connsiteX188" fmla="*/ 3240671 w 10680562"/>
              <a:gd name="connsiteY188" fmla="*/ 99232 h 1605023"/>
              <a:gd name="connsiteX189" fmla="*/ 3366544 w 10680562"/>
              <a:gd name="connsiteY189" fmla="*/ 82506 h 1605023"/>
              <a:gd name="connsiteX190" fmla="*/ 3440424 w 10680562"/>
              <a:gd name="connsiteY190" fmla="*/ 67891 h 1605023"/>
              <a:gd name="connsiteX191" fmla="*/ 3466248 w 10680562"/>
              <a:gd name="connsiteY191" fmla="*/ 55103 h 1605023"/>
              <a:gd name="connsiteX192" fmla="*/ 3503820 w 10680562"/>
              <a:gd name="connsiteY192" fmla="*/ 42110 h 1605023"/>
              <a:gd name="connsiteX193" fmla="*/ 3568389 w 10680562"/>
              <a:gd name="connsiteY193" fmla="*/ 13576 h 1605023"/>
              <a:gd name="connsiteX194" fmla="*/ 3604089 w 10680562"/>
              <a:gd name="connsiteY194" fmla="*/ 6980 h 1605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680562" h="1605023">
                <a:moveTo>
                  <a:pt x="3617689" y="0"/>
                </a:moveTo>
                <a:lnTo>
                  <a:pt x="3635901" y="7738"/>
                </a:lnTo>
                <a:cubicBezTo>
                  <a:pt x="3636815" y="-13593"/>
                  <a:pt x="3674070" y="21953"/>
                  <a:pt x="3690891" y="7049"/>
                </a:cubicBezTo>
                <a:cubicBezTo>
                  <a:pt x="3723615" y="8082"/>
                  <a:pt x="3780877" y="7675"/>
                  <a:pt x="3832247" y="13937"/>
                </a:cubicBezTo>
                <a:cubicBezTo>
                  <a:pt x="3878761" y="52737"/>
                  <a:pt x="3960967" y="15082"/>
                  <a:pt x="3999111" y="44624"/>
                </a:cubicBezTo>
                <a:cubicBezTo>
                  <a:pt x="4011661" y="48427"/>
                  <a:pt x="4023440" y="49464"/>
                  <a:pt x="4034676" y="48775"/>
                </a:cubicBezTo>
                <a:lnTo>
                  <a:pt x="4065394" y="42879"/>
                </a:lnTo>
                <a:lnTo>
                  <a:pt x="4072648" y="33262"/>
                </a:lnTo>
                <a:lnTo>
                  <a:pt x="4092232" y="34026"/>
                </a:lnTo>
                <a:lnTo>
                  <a:pt x="4097470" y="32252"/>
                </a:lnTo>
                <a:cubicBezTo>
                  <a:pt x="4107476" y="28819"/>
                  <a:pt x="4117405" y="25741"/>
                  <a:pt x="4127488" y="24056"/>
                </a:cubicBezTo>
                <a:cubicBezTo>
                  <a:pt x="4122379" y="69900"/>
                  <a:pt x="4212421" y="17287"/>
                  <a:pt x="4190803" y="55685"/>
                </a:cubicBezTo>
                <a:cubicBezTo>
                  <a:pt x="4245322" y="54405"/>
                  <a:pt x="4210442" y="91290"/>
                  <a:pt x="4269333" y="54186"/>
                </a:cubicBezTo>
                <a:cubicBezTo>
                  <a:pt x="4360007" y="84494"/>
                  <a:pt x="4405441" y="66275"/>
                  <a:pt x="4481486" y="116915"/>
                </a:cubicBezTo>
                <a:cubicBezTo>
                  <a:pt x="4469366" y="96298"/>
                  <a:pt x="4624978" y="141388"/>
                  <a:pt x="4651418" y="150071"/>
                </a:cubicBezTo>
                <a:lnTo>
                  <a:pt x="4863575" y="175458"/>
                </a:lnTo>
                <a:cubicBezTo>
                  <a:pt x="4867452" y="182323"/>
                  <a:pt x="5007365" y="209256"/>
                  <a:pt x="5013635" y="213928"/>
                </a:cubicBezTo>
                <a:lnTo>
                  <a:pt x="5203044" y="228946"/>
                </a:lnTo>
                <a:lnTo>
                  <a:pt x="5207070" y="235105"/>
                </a:lnTo>
                <a:lnTo>
                  <a:pt x="5224253" y="240320"/>
                </a:lnTo>
                <a:lnTo>
                  <a:pt x="5256736" y="254811"/>
                </a:lnTo>
                <a:lnTo>
                  <a:pt x="5264095" y="253567"/>
                </a:lnTo>
                <a:lnTo>
                  <a:pt x="5315084" y="269264"/>
                </a:lnTo>
                <a:lnTo>
                  <a:pt x="5316393" y="267603"/>
                </a:lnTo>
                <a:cubicBezTo>
                  <a:pt x="5320500" y="264235"/>
                  <a:pt x="5325719" y="262424"/>
                  <a:pt x="5333427" y="263823"/>
                </a:cubicBezTo>
                <a:cubicBezTo>
                  <a:pt x="5330520" y="234164"/>
                  <a:pt x="5341605" y="254143"/>
                  <a:pt x="5364589" y="260882"/>
                </a:cubicBezTo>
                <a:cubicBezTo>
                  <a:pt x="5365199" y="216323"/>
                  <a:pt x="5425089" y="252089"/>
                  <a:pt x="5443973" y="230866"/>
                </a:cubicBezTo>
                <a:cubicBezTo>
                  <a:pt x="5460840" y="236821"/>
                  <a:pt x="5478689" y="242307"/>
                  <a:pt x="5497201" y="247023"/>
                </a:cubicBezTo>
                <a:lnTo>
                  <a:pt x="5508269" y="249256"/>
                </a:lnTo>
                <a:lnTo>
                  <a:pt x="5508636" y="248880"/>
                </a:lnTo>
                <a:cubicBezTo>
                  <a:pt x="5511356" y="248469"/>
                  <a:pt x="5515116" y="248867"/>
                  <a:pt x="5520606" y="250400"/>
                </a:cubicBezTo>
                <a:lnTo>
                  <a:pt x="5528451" y="253330"/>
                </a:lnTo>
                <a:lnTo>
                  <a:pt x="5549923" y="257662"/>
                </a:lnTo>
                <a:lnTo>
                  <a:pt x="5558295" y="256364"/>
                </a:lnTo>
                <a:lnTo>
                  <a:pt x="5664799" y="278924"/>
                </a:lnTo>
                <a:lnTo>
                  <a:pt x="5796160" y="307979"/>
                </a:lnTo>
                <a:lnTo>
                  <a:pt x="5897647" y="339431"/>
                </a:lnTo>
                <a:cubicBezTo>
                  <a:pt x="5894921" y="322560"/>
                  <a:pt x="5962532" y="357207"/>
                  <a:pt x="5978838" y="367970"/>
                </a:cubicBezTo>
                <a:cubicBezTo>
                  <a:pt x="6035145" y="375765"/>
                  <a:pt x="6006578" y="380813"/>
                  <a:pt x="6050367" y="386341"/>
                </a:cubicBezTo>
                <a:cubicBezTo>
                  <a:pt x="6051161" y="391932"/>
                  <a:pt x="6137489" y="380709"/>
                  <a:pt x="6140609" y="385135"/>
                </a:cubicBezTo>
                <a:cubicBezTo>
                  <a:pt x="6205928" y="424013"/>
                  <a:pt x="6248816" y="452185"/>
                  <a:pt x="6302950" y="448183"/>
                </a:cubicBezTo>
                <a:lnTo>
                  <a:pt x="6308533" y="448551"/>
                </a:lnTo>
                <a:lnTo>
                  <a:pt x="6340278" y="468555"/>
                </a:lnTo>
                <a:lnTo>
                  <a:pt x="6341685" y="467587"/>
                </a:lnTo>
                <a:cubicBezTo>
                  <a:pt x="6345560" y="465876"/>
                  <a:pt x="6349786" y="465470"/>
                  <a:pt x="6354862" y="467794"/>
                </a:cubicBezTo>
                <a:cubicBezTo>
                  <a:pt x="6361260" y="446013"/>
                  <a:pt x="6363438" y="462250"/>
                  <a:pt x="6377840" y="471024"/>
                </a:cubicBezTo>
                <a:cubicBezTo>
                  <a:pt x="6390990" y="439154"/>
                  <a:pt x="6423334" y="475084"/>
                  <a:pt x="6442804" y="463091"/>
                </a:cubicBezTo>
                <a:cubicBezTo>
                  <a:pt x="6453090" y="470255"/>
                  <a:pt x="6464204" y="477252"/>
                  <a:pt x="6476009" y="483807"/>
                </a:cubicBezTo>
                <a:lnTo>
                  <a:pt x="6483237" y="487308"/>
                </a:lnTo>
                <a:lnTo>
                  <a:pt x="6483605" y="487102"/>
                </a:lnTo>
                <a:cubicBezTo>
                  <a:pt x="6485654" y="487272"/>
                  <a:pt x="6488212" y="488201"/>
                  <a:pt x="6491673" y="490243"/>
                </a:cubicBezTo>
                <a:lnTo>
                  <a:pt x="6496411" y="493689"/>
                </a:lnTo>
                <a:lnTo>
                  <a:pt x="6510429" y="500479"/>
                </a:lnTo>
                <a:lnTo>
                  <a:pt x="6516750" y="500983"/>
                </a:lnTo>
                <a:cubicBezTo>
                  <a:pt x="6541864" y="496675"/>
                  <a:pt x="6554866" y="452619"/>
                  <a:pt x="6580199" y="483318"/>
                </a:cubicBezTo>
                <a:cubicBezTo>
                  <a:pt x="6622601" y="489571"/>
                  <a:pt x="6654587" y="470617"/>
                  <a:pt x="6690237" y="493051"/>
                </a:cubicBezTo>
                <a:cubicBezTo>
                  <a:pt x="6729957" y="498806"/>
                  <a:pt x="6766252" y="494451"/>
                  <a:pt x="6798356" y="506748"/>
                </a:cubicBezTo>
                <a:cubicBezTo>
                  <a:pt x="6813529" y="501270"/>
                  <a:pt x="6826992" y="500232"/>
                  <a:pt x="6837102" y="513677"/>
                </a:cubicBezTo>
                <a:cubicBezTo>
                  <a:pt x="6874837" y="515764"/>
                  <a:pt x="6887115" y="500833"/>
                  <a:pt x="6907934" y="517339"/>
                </a:cubicBezTo>
                <a:cubicBezTo>
                  <a:pt x="6934086" y="494196"/>
                  <a:pt x="6933260" y="504492"/>
                  <a:pt x="6941474" y="513632"/>
                </a:cubicBezTo>
                <a:lnTo>
                  <a:pt x="6942754" y="514394"/>
                </a:lnTo>
                <a:lnTo>
                  <a:pt x="6946363" y="511066"/>
                </a:lnTo>
                <a:lnTo>
                  <a:pt x="6952592" y="510252"/>
                </a:lnTo>
                <a:lnTo>
                  <a:pt x="6968398" y="513946"/>
                </a:lnTo>
                <a:lnTo>
                  <a:pt x="6974142" y="516310"/>
                </a:lnTo>
                <a:cubicBezTo>
                  <a:pt x="6978173" y="517574"/>
                  <a:pt x="6980948" y="517948"/>
                  <a:pt x="6982971" y="517694"/>
                </a:cubicBezTo>
                <a:lnTo>
                  <a:pt x="6983252" y="517416"/>
                </a:lnTo>
                <a:lnTo>
                  <a:pt x="6991400" y="519321"/>
                </a:lnTo>
                <a:cubicBezTo>
                  <a:pt x="7005004" y="523242"/>
                  <a:pt x="7018100" y="527732"/>
                  <a:pt x="7030460" y="532556"/>
                </a:cubicBezTo>
                <a:cubicBezTo>
                  <a:pt x="7044917" y="516932"/>
                  <a:pt x="7088472" y="545083"/>
                  <a:pt x="7089916" y="511503"/>
                </a:cubicBezTo>
                <a:cubicBezTo>
                  <a:pt x="7106785" y="517039"/>
                  <a:pt x="7114554" y="532321"/>
                  <a:pt x="7113059" y="509904"/>
                </a:cubicBezTo>
                <a:cubicBezTo>
                  <a:pt x="7118735" y="511110"/>
                  <a:pt x="7122641" y="509850"/>
                  <a:pt x="7125755" y="507393"/>
                </a:cubicBezTo>
                <a:lnTo>
                  <a:pt x="7126765" y="506166"/>
                </a:lnTo>
                <a:lnTo>
                  <a:pt x="7164175" y="519011"/>
                </a:lnTo>
                <a:lnTo>
                  <a:pt x="7169654" y="518219"/>
                </a:lnTo>
                <a:lnTo>
                  <a:pt x="7193386" y="529788"/>
                </a:lnTo>
                <a:lnTo>
                  <a:pt x="7205997" y="534060"/>
                </a:lnTo>
                <a:lnTo>
                  <a:pt x="7208842" y="538783"/>
                </a:lnTo>
                <a:cubicBezTo>
                  <a:pt x="7212314" y="541931"/>
                  <a:pt x="7217803" y="543928"/>
                  <a:pt x="7227817" y="543304"/>
                </a:cubicBezTo>
                <a:lnTo>
                  <a:pt x="7230267" y="542497"/>
                </a:lnTo>
                <a:lnTo>
                  <a:pt x="7244913" y="551160"/>
                </a:lnTo>
                <a:cubicBezTo>
                  <a:pt x="7249453" y="554807"/>
                  <a:pt x="7253253" y="559130"/>
                  <a:pt x="7255970" y="564383"/>
                </a:cubicBezTo>
                <a:cubicBezTo>
                  <a:pt x="7315146" y="548103"/>
                  <a:pt x="7361553" y="579076"/>
                  <a:pt x="7421156" y="584155"/>
                </a:cubicBezTo>
                <a:cubicBezTo>
                  <a:pt x="7465612" y="613750"/>
                  <a:pt x="7546249" y="613142"/>
                  <a:pt x="7553166" y="653085"/>
                </a:cubicBezTo>
                <a:cubicBezTo>
                  <a:pt x="7562552" y="609214"/>
                  <a:pt x="7673998" y="724531"/>
                  <a:pt x="7643092" y="662482"/>
                </a:cubicBezTo>
                <a:lnTo>
                  <a:pt x="7896429" y="689054"/>
                </a:lnTo>
                <a:cubicBezTo>
                  <a:pt x="7940867" y="662251"/>
                  <a:pt x="7914217" y="689365"/>
                  <a:pt x="7954620" y="689481"/>
                </a:cubicBezTo>
                <a:cubicBezTo>
                  <a:pt x="7937756" y="718000"/>
                  <a:pt x="8005608" y="680123"/>
                  <a:pt x="8000803" y="714583"/>
                </a:cubicBezTo>
                <a:cubicBezTo>
                  <a:pt x="8008309" y="713512"/>
                  <a:pt x="8015731" y="711389"/>
                  <a:pt x="8023216" y="709000"/>
                </a:cubicBezTo>
                <a:lnTo>
                  <a:pt x="8027136" y="707765"/>
                </a:lnTo>
                <a:lnTo>
                  <a:pt x="8041622" y="708731"/>
                </a:lnTo>
                <a:lnTo>
                  <a:pt x="8047209" y="701624"/>
                </a:lnTo>
                <a:lnTo>
                  <a:pt x="8070088" y="697789"/>
                </a:lnTo>
                <a:cubicBezTo>
                  <a:pt x="8078424" y="697492"/>
                  <a:pt x="8087123" y="698508"/>
                  <a:pt x="8096332" y="701624"/>
                </a:cubicBezTo>
                <a:cubicBezTo>
                  <a:pt x="8123926" y="724651"/>
                  <a:pt x="8185640" y="697894"/>
                  <a:pt x="8219225" y="728069"/>
                </a:cubicBezTo>
                <a:cubicBezTo>
                  <a:pt x="8232644" y="736562"/>
                  <a:pt x="8280723" y="746936"/>
                  <a:pt x="8293793" y="739200"/>
                </a:cubicBezTo>
                <a:cubicBezTo>
                  <a:pt x="8304636" y="739365"/>
                  <a:pt x="8314843" y="745516"/>
                  <a:pt x="8323753" y="736063"/>
                </a:cubicBezTo>
                <a:cubicBezTo>
                  <a:pt x="8336542" y="725164"/>
                  <a:pt x="8363344" y="752699"/>
                  <a:pt x="8364496" y="736635"/>
                </a:cubicBezTo>
                <a:cubicBezTo>
                  <a:pt x="8383724" y="755702"/>
                  <a:pt x="8414211" y="733717"/>
                  <a:pt x="8437662" y="731942"/>
                </a:cubicBezTo>
                <a:cubicBezTo>
                  <a:pt x="8451685" y="749699"/>
                  <a:pt x="8487061" y="728469"/>
                  <a:pt x="8533764" y="735554"/>
                </a:cubicBezTo>
                <a:cubicBezTo>
                  <a:pt x="8548878" y="755832"/>
                  <a:pt x="8565301" y="740114"/>
                  <a:pt x="8596769" y="769632"/>
                </a:cubicBezTo>
                <a:cubicBezTo>
                  <a:pt x="8598880" y="767829"/>
                  <a:pt x="8601326" y="766261"/>
                  <a:pt x="8604035" y="764982"/>
                </a:cubicBezTo>
                <a:cubicBezTo>
                  <a:pt x="8619777" y="757551"/>
                  <a:pt x="8640772" y="761213"/>
                  <a:pt x="8650929" y="773164"/>
                </a:cubicBezTo>
                <a:cubicBezTo>
                  <a:pt x="8702615" y="814545"/>
                  <a:pt x="8757170" y="823762"/>
                  <a:pt x="8806497" y="839707"/>
                </a:cubicBezTo>
                <a:cubicBezTo>
                  <a:pt x="8863157" y="854381"/>
                  <a:pt x="8833749" y="812347"/>
                  <a:pt x="8898377" y="854651"/>
                </a:cubicBezTo>
                <a:cubicBezTo>
                  <a:pt x="8909161" y="844048"/>
                  <a:pt x="8918437" y="845186"/>
                  <a:pt x="8932389" y="853846"/>
                </a:cubicBezTo>
                <a:cubicBezTo>
                  <a:pt x="8960146" y="860074"/>
                  <a:pt x="8965550" y="829338"/>
                  <a:pt x="8989288" y="852877"/>
                </a:cubicBezTo>
                <a:cubicBezTo>
                  <a:pt x="8988278" y="835633"/>
                  <a:pt x="9043995" y="856467"/>
                  <a:pt x="9035275" y="837110"/>
                </a:cubicBezTo>
                <a:cubicBezTo>
                  <a:pt x="9060165" y="838647"/>
                  <a:pt x="9108456" y="858499"/>
                  <a:pt x="9138626" y="862106"/>
                </a:cubicBezTo>
                <a:cubicBezTo>
                  <a:pt x="9165080" y="876547"/>
                  <a:pt x="9174888" y="860404"/>
                  <a:pt x="9216298" y="858754"/>
                </a:cubicBezTo>
                <a:cubicBezTo>
                  <a:pt x="9230418" y="871192"/>
                  <a:pt x="9244774" y="868822"/>
                  <a:pt x="9259941" y="861843"/>
                </a:cubicBezTo>
                <a:cubicBezTo>
                  <a:pt x="9297647" y="870955"/>
                  <a:pt x="9335980" y="863006"/>
                  <a:pt x="9380407" y="864825"/>
                </a:cubicBezTo>
                <a:cubicBezTo>
                  <a:pt x="9424338" y="883720"/>
                  <a:pt x="9443322" y="899138"/>
                  <a:pt x="9490772" y="901190"/>
                </a:cubicBezTo>
                <a:cubicBezTo>
                  <a:pt x="9530410" y="933396"/>
                  <a:pt x="9546422" y="928548"/>
                  <a:pt x="9584982" y="935980"/>
                </a:cubicBezTo>
                <a:cubicBezTo>
                  <a:pt x="9629819" y="954269"/>
                  <a:pt x="9718219" y="986435"/>
                  <a:pt x="9759797" y="1010923"/>
                </a:cubicBezTo>
                <a:cubicBezTo>
                  <a:pt x="9801376" y="1035410"/>
                  <a:pt x="9804503" y="1066293"/>
                  <a:pt x="9834455" y="1082908"/>
                </a:cubicBezTo>
                <a:cubicBezTo>
                  <a:pt x="9864406" y="1099522"/>
                  <a:pt x="9891608" y="1087791"/>
                  <a:pt x="9939504" y="1110614"/>
                </a:cubicBezTo>
                <a:cubicBezTo>
                  <a:pt x="9978150" y="1098522"/>
                  <a:pt x="10034187" y="1166580"/>
                  <a:pt x="10077001" y="1160906"/>
                </a:cubicBezTo>
                <a:cubicBezTo>
                  <a:pt x="10084861" y="1190721"/>
                  <a:pt x="10164307" y="1234884"/>
                  <a:pt x="10178431" y="1244920"/>
                </a:cubicBezTo>
                <a:cubicBezTo>
                  <a:pt x="10210316" y="1215779"/>
                  <a:pt x="10222273" y="1306394"/>
                  <a:pt x="10248658" y="1309335"/>
                </a:cubicBezTo>
                <a:lnTo>
                  <a:pt x="10414709" y="1388645"/>
                </a:lnTo>
                <a:cubicBezTo>
                  <a:pt x="10473963" y="1440373"/>
                  <a:pt x="10538857" y="1454568"/>
                  <a:pt x="10592469" y="1543828"/>
                </a:cubicBezTo>
                <a:cubicBezTo>
                  <a:pt x="10651538" y="1531501"/>
                  <a:pt x="10660082" y="1567462"/>
                  <a:pt x="10674941" y="1597388"/>
                </a:cubicBezTo>
                <a:lnTo>
                  <a:pt x="10680562" y="1605023"/>
                </a:lnTo>
                <a:lnTo>
                  <a:pt x="0" y="1605023"/>
                </a:lnTo>
                <a:lnTo>
                  <a:pt x="0" y="415048"/>
                </a:lnTo>
                <a:lnTo>
                  <a:pt x="9656" y="416044"/>
                </a:lnTo>
                <a:cubicBezTo>
                  <a:pt x="66794" y="420549"/>
                  <a:pt x="142962" y="423374"/>
                  <a:pt x="179196" y="423071"/>
                </a:cubicBezTo>
                <a:cubicBezTo>
                  <a:pt x="202136" y="418172"/>
                  <a:pt x="228694" y="392385"/>
                  <a:pt x="250912" y="408617"/>
                </a:cubicBezTo>
                <a:cubicBezTo>
                  <a:pt x="249389" y="392611"/>
                  <a:pt x="280512" y="416185"/>
                  <a:pt x="291375" y="403710"/>
                </a:cubicBezTo>
                <a:cubicBezTo>
                  <a:pt x="298635" y="393187"/>
                  <a:pt x="309770" y="397885"/>
                  <a:pt x="320542" y="396592"/>
                </a:cubicBezTo>
                <a:cubicBezTo>
                  <a:pt x="359051" y="397166"/>
                  <a:pt x="484339" y="405354"/>
                  <a:pt x="522426" y="407158"/>
                </a:cubicBezTo>
                <a:cubicBezTo>
                  <a:pt x="532069" y="408997"/>
                  <a:pt x="540856" y="408831"/>
                  <a:pt x="549068" y="407418"/>
                </a:cubicBezTo>
                <a:lnTo>
                  <a:pt x="571100" y="400562"/>
                </a:lnTo>
                <a:lnTo>
                  <a:pt x="575457" y="392801"/>
                </a:lnTo>
                <a:lnTo>
                  <a:pt x="589968" y="391807"/>
                </a:lnTo>
                <a:lnTo>
                  <a:pt x="593649" y="390062"/>
                </a:lnTo>
                <a:cubicBezTo>
                  <a:pt x="600667" y="386700"/>
                  <a:pt x="607669" y="383607"/>
                  <a:pt x="614928" y="381544"/>
                </a:cubicBezTo>
                <a:cubicBezTo>
                  <a:pt x="636416" y="381988"/>
                  <a:pt x="667253" y="387671"/>
                  <a:pt x="722580" y="392722"/>
                </a:cubicBezTo>
                <a:cubicBezTo>
                  <a:pt x="792539" y="408114"/>
                  <a:pt x="885615" y="380106"/>
                  <a:pt x="946884" y="411854"/>
                </a:cubicBezTo>
                <a:cubicBezTo>
                  <a:pt x="1028270" y="418469"/>
                  <a:pt x="1139077" y="429433"/>
                  <a:pt x="1210905" y="432414"/>
                </a:cubicBezTo>
                <a:cubicBezTo>
                  <a:pt x="1270803" y="429423"/>
                  <a:pt x="1321921" y="453757"/>
                  <a:pt x="1377854" y="429745"/>
                </a:cubicBezTo>
                <a:cubicBezTo>
                  <a:pt x="1381419" y="434564"/>
                  <a:pt x="1385901" y="438319"/>
                  <a:pt x="1391004" y="441307"/>
                </a:cubicBezTo>
                <a:lnTo>
                  <a:pt x="1406953" y="447889"/>
                </a:lnTo>
                <a:lnTo>
                  <a:pt x="1409246" y="446765"/>
                </a:lnTo>
                <a:cubicBezTo>
                  <a:pt x="1419066" y="444804"/>
                  <a:pt x="1424836" y="446037"/>
                  <a:pt x="1428800" y="448677"/>
                </a:cubicBezTo>
                <a:lnTo>
                  <a:pt x="1432402" y="452956"/>
                </a:lnTo>
                <a:lnTo>
                  <a:pt x="1606578" y="430870"/>
                </a:lnTo>
                <a:cubicBezTo>
                  <a:pt x="1619625" y="433971"/>
                  <a:pt x="1633347" y="436643"/>
                  <a:pt x="1647476" y="438687"/>
                </a:cubicBezTo>
                <a:lnTo>
                  <a:pt x="1655866" y="439472"/>
                </a:lnTo>
                <a:lnTo>
                  <a:pt x="1656096" y="439162"/>
                </a:lnTo>
                <a:cubicBezTo>
                  <a:pt x="1658061" y="438636"/>
                  <a:pt x="1666503" y="411823"/>
                  <a:pt x="1670708" y="412530"/>
                </a:cubicBezTo>
                <a:lnTo>
                  <a:pt x="1737953" y="399496"/>
                </a:lnTo>
                <a:lnTo>
                  <a:pt x="1848192" y="376032"/>
                </a:lnTo>
                <a:cubicBezTo>
                  <a:pt x="1887458" y="368088"/>
                  <a:pt x="1918458" y="352092"/>
                  <a:pt x="1954077" y="352621"/>
                </a:cubicBezTo>
                <a:cubicBezTo>
                  <a:pt x="1965180" y="342609"/>
                  <a:pt x="1976973" y="337201"/>
                  <a:pt x="1993047" y="346068"/>
                </a:cubicBezTo>
                <a:cubicBezTo>
                  <a:pt x="2028636" y="335449"/>
                  <a:pt x="2032293" y="317806"/>
                  <a:pt x="2059719" y="325903"/>
                </a:cubicBezTo>
                <a:cubicBezTo>
                  <a:pt x="2071905" y="296194"/>
                  <a:pt x="2076373" y="305826"/>
                  <a:pt x="2088528" y="311409"/>
                </a:cubicBezTo>
                <a:lnTo>
                  <a:pt x="2090087" y="311676"/>
                </a:lnTo>
                <a:lnTo>
                  <a:pt x="2091700" y="307455"/>
                </a:lnTo>
                <a:lnTo>
                  <a:pt x="2096989" y="304649"/>
                </a:lnTo>
                <a:lnTo>
                  <a:pt x="2113325" y="302764"/>
                </a:lnTo>
                <a:lnTo>
                  <a:pt x="2119780" y="303007"/>
                </a:lnTo>
                <a:cubicBezTo>
                  <a:pt x="2124111" y="302819"/>
                  <a:pt x="2126840" y="302239"/>
                  <a:pt x="2128562" y="301336"/>
                </a:cubicBezTo>
                <a:cubicBezTo>
                  <a:pt x="2128600" y="301221"/>
                  <a:pt x="2128640" y="301107"/>
                  <a:pt x="2128679" y="300991"/>
                </a:cubicBezTo>
                <a:lnTo>
                  <a:pt x="2179558" y="299095"/>
                </a:lnTo>
                <a:cubicBezTo>
                  <a:pt x="2184857" y="280099"/>
                  <a:pt x="2238998" y="291238"/>
                  <a:pt x="2223277" y="260239"/>
                </a:cubicBezTo>
                <a:cubicBezTo>
                  <a:pt x="2241523" y="259676"/>
                  <a:pt x="2256386" y="270988"/>
                  <a:pt x="2243644" y="251110"/>
                </a:cubicBezTo>
                <a:cubicBezTo>
                  <a:pt x="2249448" y="250324"/>
                  <a:pt x="2252382" y="247882"/>
                  <a:pt x="2253986" y="244616"/>
                </a:cubicBezTo>
                <a:lnTo>
                  <a:pt x="2254285" y="243167"/>
                </a:lnTo>
                <a:lnTo>
                  <a:pt x="2295037" y="242433"/>
                </a:lnTo>
                <a:lnTo>
                  <a:pt x="2299648" y="239896"/>
                </a:lnTo>
                <a:lnTo>
                  <a:pt x="2327237" y="242539"/>
                </a:lnTo>
                <a:lnTo>
                  <a:pt x="2340943" y="242239"/>
                </a:lnTo>
                <a:lnTo>
                  <a:pt x="2345943" y="245589"/>
                </a:lnTo>
                <a:cubicBezTo>
                  <a:pt x="2350718" y="247299"/>
                  <a:pt x="2356754" y="247292"/>
                  <a:pt x="2365602" y="243403"/>
                </a:cubicBezTo>
                <a:lnTo>
                  <a:pt x="2367433" y="241858"/>
                </a:lnTo>
                <a:lnTo>
                  <a:pt x="2385231" y="244873"/>
                </a:lnTo>
                <a:cubicBezTo>
                  <a:pt x="2391237" y="246682"/>
                  <a:pt x="2396907" y="249351"/>
                  <a:pt x="2402059" y="253223"/>
                </a:cubicBezTo>
                <a:cubicBezTo>
                  <a:pt x="2457690" y="251623"/>
                  <a:pt x="2639813" y="242704"/>
                  <a:pt x="2719020" y="235271"/>
                </a:cubicBezTo>
                <a:cubicBezTo>
                  <a:pt x="2762954" y="229515"/>
                  <a:pt x="2821915" y="222156"/>
                  <a:pt x="2877308" y="208630"/>
                </a:cubicBezTo>
                <a:cubicBezTo>
                  <a:pt x="2947949" y="226393"/>
                  <a:pt x="2978035" y="153757"/>
                  <a:pt x="3051375" y="154110"/>
                </a:cubicBezTo>
                <a:cubicBezTo>
                  <a:pt x="3078434" y="115011"/>
                  <a:pt x="3067807" y="148493"/>
                  <a:pt x="3104837" y="135199"/>
                </a:cubicBezTo>
                <a:cubicBezTo>
                  <a:pt x="3103880" y="166713"/>
                  <a:pt x="3146743" y="109780"/>
                  <a:pt x="3159836" y="142694"/>
                </a:cubicBezTo>
                <a:cubicBezTo>
                  <a:pt x="3166160" y="139232"/>
                  <a:pt x="3171875" y="134841"/>
                  <a:pt x="3177510" y="130186"/>
                </a:cubicBezTo>
                <a:lnTo>
                  <a:pt x="3180470" y="127764"/>
                </a:lnTo>
                <a:lnTo>
                  <a:pt x="3194216" y="123837"/>
                </a:lnTo>
                <a:lnTo>
                  <a:pt x="3214710" y="104451"/>
                </a:lnTo>
                <a:cubicBezTo>
                  <a:pt x="3222186" y="101416"/>
                  <a:pt x="3230663" y="99454"/>
                  <a:pt x="3240671" y="99232"/>
                </a:cubicBezTo>
                <a:cubicBezTo>
                  <a:pt x="3277606" y="111009"/>
                  <a:pt x="3320498" y="66221"/>
                  <a:pt x="3366544" y="82506"/>
                </a:cubicBezTo>
                <a:cubicBezTo>
                  <a:pt x="3383134" y="85775"/>
                  <a:pt x="3432393" y="79256"/>
                  <a:pt x="3440424" y="67891"/>
                </a:cubicBezTo>
                <a:cubicBezTo>
                  <a:pt x="3450432" y="64444"/>
                  <a:pt x="3462892" y="66649"/>
                  <a:pt x="3466248" y="55103"/>
                </a:cubicBezTo>
                <a:cubicBezTo>
                  <a:pt x="3472418" y="40954"/>
                  <a:pt x="3510917" y="57092"/>
                  <a:pt x="3503820" y="42110"/>
                </a:cubicBezTo>
                <a:lnTo>
                  <a:pt x="3568389" y="13576"/>
                </a:lnTo>
                <a:cubicBezTo>
                  <a:pt x="3579310" y="19318"/>
                  <a:pt x="3590168" y="14433"/>
                  <a:pt x="3604089" y="6980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topwatch with time motion blur">
            <a:extLst>
              <a:ext uri="{FF2B5EF4-FFF2-40B4-BE49-F238E27FC236}">
                <a16:creationId xmlns:a16="http://schemas.microsoft.com/office/drawing/2014/main" id="{92718E7B-E8F2-663D-DA7E-1AD1B6E255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9816" y="825688"/>
            <a:ext cx="3467736" cy="519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406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952AC90-2AA1-B4AC-1144-9F2B70639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GB" sz="3600" b="1">
                <a:solidFill>
                  <a:schemeClr val="tx2"/>
                </a:solidFill>
              </a:rPr>
              <a:t>Scheduling Gaps Identified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88F94-0372-C8CF-0EEF-789F1393B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243012"/>
            <a:ext cx="5297424" cy="479202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The analysis revealed that some operators were running two or more batches concurrently and this can be a significant cause of downtimes.</a:t>
            </a:r>
          </a:p>
          <a:p>
            <a:pPr marL="0" indent="0">
              <a:buNone/>
            </a:pPr>
            <a:endParaRPr lang="en-GB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The operators include; Paul, James, Emily, and Mike.</a:t>
            </a:r>
          </a:p>
        </p:txBody>
      </p:sp>
    </p:spTree>
    <p:extLst>
      <p:ext uri="{BB962C8B-B14F-4D97-AF65-F5344CB8AC3E}">
        <p14:creationId xmlns:p14="http://schemas.microsoft.com/office/powerpoint/2010/main" val="495024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35862C-6012-74D8-1EB6-320FD6D66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3700" b="1">
                <a:solidFill>
                  <a:srgbClr val="FFFFFF"/>
                </a:solidFill>
              </a:rPr>
              <a:t>Recommendations for improvement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6D728-F061-F394-EE27-345D14D6C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2140" y="308113"/>
            <a:ext cx="5715000" cy="613244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300" b="1" dirty="0"/>
              <a:t>1. Implement Automated Production Scheduling</a:t>
            </a:r>
          </a:p>
          <a:p>
            <a:pPr marL="0" indent="0">
              <a:buNone/>
            </a:pPr>
            <a:r>
              <a:rPr lang="en-GB" sz="1300" dirty="0"/>
              <a:t>This will improve batch sequencing, reduce operator overlap, and minimise idle production time.</a:t>
            </a:r>
          </a:p>
          <a:p>
            <a:pPr marL="0" indent="0">
              <a:buNone/>
            </a:pPr>
            <a:r>
              <a:rPr lang="en-GB" sz="1300" b="1" dirty="0"/>
              <a:t>2. Introduce Predictive and Preventive Maintenance Strategy</a:t>
            </a:r>
          </a:p>
          <a:p>
            <a:pPr marL="0" indent="0">
              <a:buNone/>
            </a:pPr>
            <a:r>
              <a:rPr lang="en-GB" sz="1300" dirty="0"/>
              <a:t>Schedule maintenance dynamically based on usage.</a:t>
            </a:r>
          </a:p>
          <a:p>
            <a:pPr marL="0" indent="0">
              <a:buNone/>
            </a:pPr>
            <a:r>
              <a:rPr lang="en-GB" sz="1300" b="1" dirty="0"/>
              <a:t>3. Inventory Planning</a:t>
            </a:r>
          </a:p>
          <a:p>
            <a:pPr marL="0" indent="0">
              <a:buNone/>
            </a:pPr>
            <a:r>
              <a:rPr lang="en-GB" sz="1300" dirty="0"/>
              <a:t>Introduce inventory reorder alerts and forecast material demand based on production history.</a:t>
            </a:r>
          </a:p>
          <a:p>
            <a:pPr marL="0" indent="0">
              <a:buNone/>
            </a:pPr>
            <a:r>
              <a:rPr lang="en-GB" sz="1300" b="1" dirty="0"/>
              <a:t>4. Optimise Cleaning and Sanitation Process</a:t>
            </a:r>
          </a:p>
          <a:p>
            <a:pPr marL="0" indent="0">
              <a:buNone/>
            </a:pPr>
            <a:r>
              <a:rPr lang="en-GB" sz="1300" dirty="0"/>
              <a:t>Schedule cleaning around batch transitions strategically and standardise cleaning procedures.</a:t>
            </a:r>
          </a:p>
          <a:p>
            <a:pPr marL="0" indent="0">
              <a:buNone/>
            </a:pPr>
            <a:r>
              <a:rPr lang="en-GB" sz="1300" b="1" dirty="0"/>
              <a:t>5. Improve Operator Performance Management and Training</a:t>
            </a:r>
          </a:p>
          <a:p>
            <a:pPr marL="0" indent="0">
              <a:buNone/>
            </a:pPr>
            <a:r>
              <a:rPr lang="en-GB" sz="1300" dirty="0"/>
              <a:t>Monitor workload balance across operators and provide training on changeover efficiency.</a:t>
            </a:r>
          </a:p>
          <a:p>
            <a:pPr marL="0" indent="0">
              <a:buNone/>
            </a:pPr>
            <a:r>
              <a:rPr lang="en-GB" sz="1300" b="1" dirty="0"/>
              <a:t>6. Establish Downtime Severity Escalation Framework</a:t>
            </a:r>
          </a:p>
          <a:p>
            <a:pPr marL="0" indent="0">
              <a:buNone/>
            </a:pPr>
            <a:r>
              <a:rPr lang="en-GB" sz="1300" dirty="0"/>
              <a:t>Define downtime severity thresholds and trigger automated alerts for critical downtime events.</a:t>
            </a:r>
          </a:p>
          <a:p>
            <a:pPr marL="0" indent="0">
              <a:buNone/>
            </a:pPr>
            <a:r>
              <a:rPr lang="en-GB" sz="1300" b="1" dirty="0"/>
              <a:t>7. Introduce Continuous Improvement and Root Cause Review Cycles</a:t>
            </a:r>
          </a:p>
          <a:p>
            <a:pPr marL="0" indent="0">
              <a:buNone/>
            </a:pPr>
            <a:r>
              <a:rPr lang="en-GB" sz="1300" dirty="0"/>
              <a:t>Conduct monthly downtime review meetings and prioritise top recurring downtime factors.</a:t>
            </a:r>
          </a:p>
        </p:txBody>
      </p:sp>
    </p:spTree>
    <p:extLst>
      <p:ext uri="{BB962C8B-B14F-4D97-AF65-F5344CB8AC3E}">
        <p14:creationId xmlns:p14="http://schemas.microsoft.com/office/powerpoint/2010/main" val="124683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</TotalTime>
  <Words>573</Words>
  <Application>Microsoft Office PowerPoint</Application>
  <PresentationFormat>Widescreen</PresentationFormat>
  <Paragraphs>94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Evaluating Production Bottlenecks Through Downtime Analysis</vt:lpstr>
      <vt:lpstr>PowerPoint Presentation</vt:lpstr>
      <vt:lpstr>Product Downtime Frequency</vt:lpstr>
      <vt:lpstr>Root Causes of Downtime</vt:lpstr>
      <vt:lpstr>Downtime Trends(March – August 2025)</vt:lpstr>
      <vt:lpstr>Consistent Downtime Causes</vt:lpstr>
      <vt:lpstr>Operator Downtime Analysis</vt:lpstr>
      <vt:lpstr>Downtime Impact: Time Lost</vt:lpstr>
      <vt:lpstr>Scheduling Gaps Identified</vt:lpstr>
      <vt:lpstr>Recommendations for improvement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Oluwaseun Ifekoya</dc:creator>
  <cp:lastModifiedBy>Oluwaseun Ifekoya</cp:lastModifiedBy>
  <cp:revision>1</cp:revision>
  <dcterms:created xsi:type="dcterms:W3CDTF">2026-05-28T13:24:49Z</dcterms:created>
  <dcterms:modified xsi:type="dcterms:W3CDTF">2026-05-28T21:44:20Z</dcterms:modified>
</cp:coreProperties>
</file>